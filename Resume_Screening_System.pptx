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3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F4A825"/>
          </a:solidFill>
          <a:ln/>
        </p:spPr>
      </p:sp>
      <p:sp>
        <p:nvSpPr>
          <p:cNvPr id="3" name="Text 1"/>
          <p:cNvSpPr/>
          <p:nvPr/>
        </p:nvSpPr>
        <p:spPr>
          <a:xfrm>
            <a:off x="1097280" y="1645920"/>
            <a:ext cx="8229600" cy="109728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Resume Screening System</a:t>
            </a:r>
            <a:endParaRPr lang="en-US" sz="4400" dirty="0"/>
          </a:p>
        </p:txBody>
      </p:sp>
      <p:sp>
        <p:nvSpPr>
          <p:cNvPr id="4" name="Text 2"/>
          <p:cNvSpPr/>
          <p:nvPr/>
        </p:nvSpPr>
        <p:spPr>
          <a:xfrm>
            <a:off x="1097280" y="2834640"/>
            <a:ext cx="8229600" cy="548640"/>
          </a:xfrm>
          <a:prstGeom prst="rect">
            <a:avLst/>
          </a:prstGeom>
          <a:noFill/>
          <a:ln/>
        </p:spPr>
        <p:txBody>
          <a:bodyPr wrap="square" rtlCol="0" anchor="ctr"/>
          <a:lstStyle/>
          <a:p>
            <a:pPr indent="0" marL="0">
              <a:buNone/>
            </a:pPr>
            <a:r>
              <a:rPr lang="en-US" sz="2000" i="1" dirty="0">
                <a:solidFill>
                  <a:srgbClr val="F4A825"/>
                </a:solidFill>
                <a:latin typeface="Calibri" pitchFamily="34" charset="0"/>
                <a:ea typeface="Calibri" pitchFamily="34" charset="-122"/>
                <a:cs typeface="Calibri" pitchFamily="34" charset="-120"/>
              </a:rPr>
              <a:t>Machine Learning Based Automated Resume Classification</a:t>
            </a:r>
            <a:endParaRPr lang="en-US" sz="2000" dirty="0"/>
          </a:p>
        </p:txBody>
      </p:sp>
      <p:sp>
        <p:nvSpPr>
          <p:cNvPr id="5" name="Shape 3"/>
          <p:cNvSpPr/>
          <p:nvPr/>
        </p:nvSpPr>
        <p:spPr>
          <a:xfrm>
            <a:off x="1097280" y="3657600"/>
            <a:ext cx="2743200" cy="36576"/>
          </a:xfrm>
          <a:prstGeom prst="rect">
            <a:avLst/>
          </a:prstGeom>
          <a:solidFill>
            <a:srgbClr val="F4A825"/>
          </a:solidFill>
          <a:ln/>
        </p:spPr>
      </p:sp>
      <p:sp>
        <p:nvSpPr>
          <p:cNvPr id="6" name="Text 4"/>
          <p:cNvSpPr/>
          <p:nvPr/>
        </p:nvSpPr>
        <p:spPr>
          <a:xfrm>
            <a:off x="1097280" y="3931920"/>
            <a:ext cx="5486400" cy="457200"/>
          </a:xfrm>
          <a:prstGeom prst="rect">
            <a:avLst/>
          </a:prstGeom>
          <a:noFill/>
          <a:ln/>
        </p:spPr>
        <p:txBody>
          <a:bodyPr wrap="square" rtlCol="0" anchor="ctr"/>
          <a:lstStyle/>
          <a:p>
            <a:pPr indent="0" marL="0">
              <a:buNone/>
            </a:pPr>
            <a:r>
              <a:rPr lang="en-US" sz="1600" dirty="0">
                <a:solidFill>
                  <a:srgbClr val="7A8B8F"/>
                </a:solidFill>
                <a:latin typeface="Calibri" pitchFamily="34" charset="0"/>
                <a:ea typeface="Calibri" pitchFamily="34" charset="-122"/>
                <a:cs typeface="Calibri" pitchFamily="34" charset="-120"/>
              </a:rPr>
              <a:t>ML Project Presentation</a:t>
            </a:r>
            <a:endParaRPr lang="en-US" sz="1600" dirty="0"/>
          </a:p>
        </p:txBody>
      </p:sp>
      <p:sp>
        <p:nvSpPr>
          <p:cNvPr id="7" name="Shape 5"/>
          <p:cNvSpPr/>
          <p:nvPr/>
        </p:nvSpPr>
        <p:spPr>
          <a:xfrm>
            <a:off x="8686800" y="4389120"/>
            <a:ext cx="731520" cy="731520"/>
          </a:xfrm>
          <a:prstGeom prst="ellipse">
            <a:avLst/>
          </a:prstGeom>
          <a:solidFill>
            <a:srgbClr val="0E4D64"/>
          </a:solidFill>
          <a:ln/>
        </p:spPr>
      </p:sp>
      <p:sp>
        <p:nvSpPr>
          <p:cNvPr id="8" name="Text 6"/>
          <p:cNvSpPr/>
          <p:nvPr/>
        </p:nvSpPr>
        <p:spPr>
          <a:xfrm>
            <a:off x="8686800" y="4389120"/>
            <a:ext cx="731520" cy="7315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9" name="Shape 7"/>
          <p:cNvSpPr/>
          <p:nvPr/>
        </p:nvSpPr>
        <p:spPr>
          <a:xfrm>
            <a:off x="9692640" y="4389120"/>
            <a:ext cx="731520" cy="731520"/>
          </a:xfrm>
          <a:prstGeom prst="ellipse">
            <a:avLst/>
          </a:prstGeom>
          <a:solidFill>
            <a:srgbClr val="0E4D64"/>
          </a:solidFill>
          <a:ln/>
        </p:spPr>
      </p:sp>
      <p:sp>
        <p:nvSpPr>
          <p:cNvPr id="10" name="Text 8"/>
          <p:cNvSpPr/>
          <p:nvPr/>
        </p:nvSpPr>
        <p:spPr>
          <a:xfrm>
            <a:off x="9692640" y="4389120"/>
            <a:ext cx="731520" cy="7315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1" name="Shape 9"/>
          <p:cNvSpPr/>
          <p:nvPr/>
        </p:nvSpPr>
        <p:spPr>
          <a:xfrm>
            <a:off x="10698480" y="4389120"/>
            <a:ext cx="731520" cy="731520"/>
          </a:xfrm>
          <a:prstGeom prst="ellipse">
            <a:avLst/>
          </a:prstGeom>
          <a:solidFill>
            <a:srgbClr val="0E4D64"/>
          </a:solidFill>
          <a:ln/>
        </p:spPr>
      </p:sp>
      <p:sp>
        <p:nvSpPr>
          <p:cNvPr id="12" name="Text 10"/>
          <p:cNvSpPr/>
          <p:nvPr/>
        </p:nvSpPr>
        <p:spPr>
          <a:xfrm>
            <a:off x="10698480" y="4389120"/>
            <a:ext cx="731520" cy="7315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5"/>
        </a:solidFill>
      </p:bgPr>
    </p:bg>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0D2B3E"/>
          </a:solidFill>
          <a:ln/>
        </p:spPr>
      </p:sp>
      <p:sp>
        <p:nvSpPr>
          <p:cNvPr id="3" name="Text 1"/>
          <p:cNvSpPr/>
          <p:nvPr/>
        </p:nvSpPr>
        <p:spPr>
          <a:xfrm>
            <a:off x="731520" y="137160"/>
            <a:ext cx="4572000" cy="640080"/>
          </a:xfrm>
          <a:prstGeom prst="rect">
            <a:avLst/>
          </a:prstGeom>
          <a:noFill/>
          <a:ln/>
        </p:spPr>
        <p:txBody>
          <a:bodyPr wrap="square" rtlCol="0" anchor="ctr"/>
          <a:lstStyle/>
          <a:p>
            <a:pPr indent="0" marL="0">
              <a:buNone/>
            </a:pPr>
            <a:r>
              <a:rPr lang="en-US" sz="3200" b="1" dirty="0">
                <a:solidFill>
                  <a:srgbClr val="F4A825"/>
                </a:solidFill>
                <a:latin typeface="Georgia" pitchFamily="34" charset="0"/>
                <a:ea typeface="Georgia" pitchFamily="34" charset="-122"/>
                <a:cs typeface="Georgia" pitchFamily="34" charset="-120"/>
              </a:rPr>
              <a:t>Abstract</a:t>
            </a:r>
            <a:endParaRPr lang="en-US" sz="3200" dirty="0"/>
          </a:p>
        </p:txBody>
      </p:sp>
      <p:sp>
        <p:nvSpPr>
          <p:cNvPr id="4" name="Shape 2"/>
          <p:cNvSpPr/>
          <p:nvPr/>
        </p:nvSpPr>
        <p:spPr>
          <a:xfrm>
            <a:off x="731520" y="1280160"/>
            <a:ext cx="10515600" cy="2011680"/>
          </a:xfrm>
          <a:prstGeom prst="rect">
            <a:avLst>
              <a:gd name="adj" fmla="val 6818"/>
            </a:avLst>
          </a:prstGeom>
          <a:solidFill>
            <a:srgbClr val="FFFFFF"/>
          </a:solidFill>
          <a:ln/>
          <a:effectLst>
            <a:outerShdw sx="100000" sy="100000" kx="0" ky="0" algn="bl" rotWithShape="0" blurRad="76200" dist="25400" dir="16200000">
              <a:srgbClr val="00000020">
                <a:alpha val="75000"/>
              </a:srgbClr>
            </a:outerShdw>
          </a:effectLst>
        </p:spPr>
      </p:sp>
      <p:sp>
        <p:nvSpPr>
          <p:cNvPr id="5" name="Text 3"/>
          <p:cNvSpPr/>
          <p:nvPr/>
        </p:nvSpPr>
        <p:spPr>
          <a:xfrm>
            <a:off x="1005840" y="1463040"/>
            <a:ext cx="10058400" cy="1645920"/>
          </a:xfrm>
          <a:prstGeom prst="rect">
            <a:avLst/>
          </a:prstGeom>
          <a:noFill/>
          <a:ln/>
        </p:spPr>
        <p:txBody>
          <a:bodyPr wrap="square" rtlCol="0" anchor="ctr"/>
          <a:lstStyle/>
          <a:p>
            <a:pPr indent="0" marL="0">
              <a:lnSpc>
                <a:spcPct val="130000"/>
              </a:lnSpc>
              <a:buNone/>
            </a:pPr>
            <a:r>
              <a:rPr lang="en-US" sz="1500" dirty="0">
                <a:solidFill>
                  <a:srgbClr val="1A2A33"/>
                </a:solidFill>
                <a:latin typeface="Calibri" pitchFamily="34" charset="0"/>
                <a:ea typeface="Calibri" pitchFamily="34" charset="-122"/>
                <a:cs typeface="Calibri" pitchFamily="34" charset="-120"/>
              </a:rPr>
              <a:t>The Resume Screening System is an automated machine learning solution designed to classify and rank resumes based on job categories. Traditional manual resume screening is time-consuming, error-prone, and subject to unconscious bias. This system leverages Natural Language Processing (NLP) and supervised classification algorithms to automatically categorize resumes into predefined job roles such as Data Science, Web Development, HR, Finance, and more.</a:t>
            </a:r>
            <a:endParaRPr lang="en-US" sz="1500" dirty="0"/>
          </a:p>
        </p:txBody>
      </p:sp>
      <p:sp>
        <p:nvSpPr>
          <p:cNvPr id="6" name="Shape 4"/>
          <p:cNvSpPr/>
          <p:nvPr/>
        </p:nvSpPr>
        <p:spPr>
          <a:xfrm>
            <a:off x="731520" y="3566160"/>
            <a:ext cx="10515600" cy="2011680"/>
          </a:xfrm>
          <a:prstGeom prst="rect">
            <a:avLst>
              <a:gd name="adj" fmla="val 6818"/>
            </a:avLst>
          </a:prstGeom>
          <a:solidFill>
            <a:srgbClr val="FFFFFF"/>
          </a:solidFill>
          <a:ln/>
          <a:effectLst>
            <a:outerShdw sx="100000" sy="100000" kx="0" ky="0" algn="bl" rotWithShape="0" blurRad="76200" dist="25400" dir="16200000">
              <a:srgbClr val="00000020">
                <a:alpha val="75000"/>
              </a:srgbClr>
            </a:outerShdw>
          </a:effectLst>
        </p:spPr>
      </p:sp>
      <p:sp>
        <p:nvSpPr>
          <p:cNvPr id="7" name="Text 5"/>
          <p:cNvSpPr/>
          <p:nvPr/>
        </p:nvSpPr>
        <p:spPr>
          <a:xfrm>
            <a:off x="1005840" y="3749040"/>
            <a:ext cx="10058400" cy="1645920"/>
          </a:xfrm>
          <a:prstGeom prst="rect">
            <a:avLst/>
          </a:prstGeom>
          <a:noFill/>
          <a:ln/>
        </p:spPr>
        <p:txBody>
          <a:bodyPr wrap="square" rtlCol="0" anchor="ctr"/>
          <a:lstStyle/>
          <a:p>
            <a:pPr indent="0" marL="0">
              <a:lnSpc>
                <a:spcPct val="130000"/>
              </a:lnSpc>
              <a:buNone/>
            </a:pPr>
            <a:r>
              <a:rPr lang="en-US" sz="1500" dirty="0">
                <a:solidFill>
                  <a:srgbClr val="1A2A33"/>
                </a:solidFill>
                <a:latin typeface="Calibri" pitchFamily="34" charset="0"/>
                <a:ea typeface="Calibri" pitchFamily="34" charset="-122"/>
                <a:cs typeface="Calibri" pitchFamily="34" charset="-120"/>
              </a:rPr>
              <a:t>The system processes raw resume text through a pipeline of text preprocessing, TF-IDF feature extraction, and multi-class classification using algorithms like K-Nearest Neighbors (KNN), Support Vector Machines (SVM), and Random Forest. The model achieves high accuracy in categorizing resumes, significantly reducing the time and effort required in the initial screening phase of recruitment.</a:t>
            </a:r>
            <a:endParaRPr lang="en-US" sz="1500" dirty="0"/>
          </a:p>
        </p:txBody>
      </p:sp>
      <p:sp>
        <p:nvSpPr>
          <p:cNvPr id="8" name="Shape 6"/>
          <p:cNvSpPr/>
          <p:nvPr/>
        </p:nvSpPr>
        <p:spPr>
          <a:xfrm>
            <a:off x="731520" y="5852160"/>
            <a:ext cx="10515600" cy="548640"/>
          </a:xfrm>
          <a:prstGeom prst="rect">
            <a:avLst>
              <a:gd name="adj" fmla="val 16667"/>
            </a:avLst>
          </a:prstGeom>
          <a:solidFill>
            <a:srgbClr val="0E4D64"/>
          </a:solidFill>
          <a:ln/>
        </p:spPr>
      </p:sp>
      <p:sp>
        <p:nvSpPr>
          <p:cNvPr id="9" name="Text 7"/>
          <p:cNvSpPr/>
          <p:nvPr/>
        </p:nvSpPr>
        <p:spPr>
          <a:xfrm>
            <a:off x="1005840" y="5852160"/>
            <a:ext cx="10058400" cy="5486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Goal: Automate resume classification to reduce hiring time by up to 75%</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B3E"/>
        </a:solidFill>
      </p:bgPr>
    </p:bg>
    <p:spTree>
      <p:nvGrpSpPr>
        <p:cNvPr id="1" name=""/>
        <p:cNvGrpSpPr/>
        <p:nvPr/>
      </p:nvGrpSpPr>
      <p:grpSpPr>
        <a:xfrm>
          <a:off x="0" y="0"/>
          <a:ext cx="0" cy="0"/>
          <a:chOff x="0" y="0"/>
          <a:chExt cx="0" cy="0"/>
        </a:xfrm>
      </p:grpSpPr>
      <p:sp>
        <p:nvSpPr>
          <p:cNvPr id="2" name="Text 0"/>
          <p:cNvSpPr/>
          <p:nvPr/>
        </p:nvSpPr>
        <p:spPr>
          <a:xfrm>
            <a:off x="731520" y="274320"/>
            <a:ext cx="7315200" cy="731520"/>
          </a:xfrm>
          <a:prstGeom prst="rect">
            <a:avLst/>
          </a:prstGeom>
          <a:noFill/>
          <a:ln/>
        </p:spPr>
        <p:txBody>
          <a:bodyPr wrap="square" rtlCol="0" anchor="ctr"/>
          <a:lstStyle/>
          <a:p>
            <a:pPr indent="0" marL="0">
              <a:buNone/>
            </a:pPr>
            <a:r>
              <a:rPr lang="en-US" sz="3200" b="1" dirty="0">
                <a:solidFill>
                  <a:srgbClr val="F4A825"/>
                </a:solidFill>
                <a:latin typeface="Georgia" pitchFamily="34" charset="0"/>
                <a:ea typeface="Georgia" pitchFamily="34" charset="-122"/>
                <a:cs typeface="Georgia" pitchFamily="34" charset="-120"/>
              </a:rPr>
              <a:t>Problem Statement</a:t>
            </a:r>
            <a:endParaRPr lang="en-US" sz="3200" dirty="0"/>
          </a:p>
        </p:txBody>
      </p:sp>
      <p:sp>
        <p:nvSpPr>
          <p:cNvPr id="3" name="Shape 1"/>
          <p:cNvSpPr/>
          <p:nvPr/>
        </p:nvSpPr>
        <p:spPr>
          <a:xfrm>
            <a:off x="731520" y="1005840"/>
            <a:ext cx="2286000" cy="36576"/>
          </a:xfrm>
          <a:prstGeom prst="rect">
            <a:avLst/>
          </a:prstGeom>
          <a:solidFill>
            <a:srgbClr val="F4A825"/>
          </a:solidFill>
          <a:ln/>
        </p:spPr>
      </p:sp>
      <p:sp>
        <p:nvSpPr>
          <p:cNvPr id="4" name="Shape 2"/>
          <p:cNvSpPr/>
          <p:nvPr/>
        </p:nvSpPr>
        <p:spPr>
          <a:xfrm>
            <a:off x="731520" y="1463040"/>
            <a:ext cx="5303520" cy="1920240"/>
          </a:xfrm>
          <a:prstGeom prst="rect">
            <a:avLst>
              <a:gd name="adj" fmla="val 7143"/>
            </a:avLst>
          </a:prstGeom>
          <a:solidFill>
            <a:srgbClr val="0E4D64"/>
          </a:solidFill>
          <a:ln/>
        </p:spPr>
      </p:sp>
      <p:sp>
        <p:nvSpPr>
          <p:cNvPr id="5" name="Text 3"/>
          <p:cNvSpPr/>
          <p:nvPr/>
        </p:nvSpPr>
        <p:spPr>
          <a:xfrm>
            <a:off x="1005840" y="1645920"/>
            <a:ext cx="548640" cy="548640"/>
          </a:xfrm>
          <a:prstGeom prst="rect">
            <a:avLst/>
          </a:prstGeom>
          <a:noFill/>
          <a:ln/>
        </p:spPr>
        <p:txBody>
          <a:bodyPr wrap="square" rtlCol="0" anchor="ctr"/>
          <a:lstStyle/>
          <a:p>
            <a:pPr indent="0" marL="0">
              <a:buNone/>
            </a:pPr>
            <a:r>
              <a:rPr lang="en-US" sz="2800" dirty="0">
                <a:solidFill>
                  <a:srgbClr val="000000"/>
                </a:solidFill>
              </a:rPr>
              <a:t>⏱️</a:t>
            </a:r>
            <a:endParaRPr lang="en-US" sz="2800" dirty="0"/>
          </a:p>
        </p:txBody>
      </p:sp>
      <p:sp>
        <p:nvSpPr>
          <p:cNvPr id="6" name="Text 4"/>
          <p:cNvSpPr/>
          <p:nvPr/>
        </p:nvSpPr>
        <p:spPr>
          <a:xfrm>
            <a:off x="1645920" y="1691640"/>
            <a:ext cx="3931920" cy="457200"/>
          </a:xfrm>
          <a:prstGeom prst="rect">
            <a:avLst/>
          </a:prstGeom>
          <a:noFill/>
          <a:ln/>
        </p:spPr>
        <p:txBody>
          <a:bodyPr wrap="square" rtlCol="0" anchor="ctr"/>
          <a:lstStyle/>
          <a:p>
            <a:pPr indent="0" marL="0">
              <a:buNone/>
            </a:pPr>
            <a:r>
              <a:rPr lang="en-US" sz="1800" b="1" dirty="0">
                <a:solidFill>
                  <a:srgbClr val="F4A825"/>
                </a:solidFill>
                <a:latin typeface="Georgia" pitchFamily="34" charset="0"/>
                <a:ea typeface="Georgia" pitchFamily="34" charset="-122"/>
                <a:cs typeface="Georgia" pitchFamily="34" charset="-120"/>
              </a:rPr>
              <a:t>Time-Consuming Process</a:t>
            </a:r>
            <a:endParaRPr lang="en-US" sz="1800" dirty="0"/>
          </a:p>
        </p:txBody>
      </p:sp>
      <p:sp>
        <p:nvSpPr>
          <p:cNvPr id="7" name="Text 5"/>
          <p:cNvSpPr/>
          <p:nvPr/>
        </p:nvSpPr>
        <p:spPr>
          <a:xfrm>
            <a:off x="1005840" y="2286000"/>
            <a:ext cx="4754880" cy="914400"/>
          </a:xfrm>
          <a:prstGeom prst="rect">
            <a:avLst/>
          </a:prstGeom>
          <a:noFill/>
          <a:ln/>
        </p:spPr>
        <p:txBody>
          <a:bodyPr wrap="square" rtlCol="0" anchor="ctr"/>
          <a:lstStyle/>
          <a:p>
            <a:pPr indent="0" marL="0">
              <a:lnSpc>
                <a:spcPct val="120000"/>
              </a:lnSpc>
              <a:buNone/>
            </a:pPr>
            <a:r>
              <a:rPr lang="en-US" sz="1300" dirty="0">
                <a:solidFill>
                  <a:srgbClr val="F0F4F5"/>
                </a:solidFill>
                <a:latin typeface="Calibri" pitchFamily="34" charset="0"/>
                <a:ea typeface="Calibri" pitchFamily="34" charset="-122"/>
                <a:cs typeface="Calibri" pitchFamily="34" charset="-120"/>
              </a:rPr>
              <a:t>HR teams spend 23 hours on average screening resumes for a single job posting. Manual review is unsustainable at scale.</a:t>
            </a:r>
            <a:endParaRPr lang="en-US" sz="1300" dirty="0"/>
          </a:p>
        </p:txBody>
      </p:sp>
      <p:sp>
        <p:nvSpPr>
          <p:cNvPr id="8" name="Shape 6"/>
          <p:cNvSpPr/>
          <p:nvPr/>
        </p:nvSpPr>
        <p:spPr>
          <a:xfrm>
            <a:off x="6400800" y="1463040"/>
            <a:ext cx="5303520" cy="1920240"/>
          </a:xfrm>
          <a:prstGeom prst="rect">
            <a:avLst>
              <a:gd name="adj" fmla="val 7143"/>
            </a:avLst>
          </a:prstGeom>
          <a:solidFill>
            <a:srgbClr val="0E4D64"/>
          </a:solidFill>
          <a:ln/>
        </p:spPr>
      </p:sp>
      <p:sp>
        <p:nvSpPr>
          <p:cNvPr id="9" name="Text 7"/>
          <p:cNvSpPr/>
          <p:nvPr/>
        </p:nvSpPr>
        <p:spPr>
          <a:xfrm>
            <a:off x="6675120" y="1645920"/>
            <a:ext cx="548640" cy="548640"/>
          </a:xfrm>
          <a:prstGeom prst="rect">
            <a:avLst/>
          </a:prstGeom>
          <a:noFill/>
          <a:ln/>
        </p:spPr>
        <p:txBody>
          <a:bodyPr wrap="square" rtlCol="0" anchor="ctr"/>
          <a:lstStyle/>
          <a:p>
            <a:pPr indent="0" marL="0">
              <a:buNone/>
            </a:pPr>
            <a:r>
              <a:rPr lang="en-US" sz="2800" dirty="0">
                <a:solidFill>
                  <a:srgbClr val="000000"/>
                </a:solidFill>
              </a:rPr>
              <a:t>⚠️</a:t>
            </a:r>
            <a:endParaRPr lang="en-US" sz="2800" dirty="0"/>
          </a:p>
        </p:txBody>
      </p:sp>
      <p:sp>
        <p:nvSpPr>
          <p:cNvPr id="10" name="Text 8"/>
          <p:cNvSpPr/>
          <p:nvPr/>
        </p:nvSpPr>
        <p:spPr>
          <a:xfrm>
            <a:off x="7315200" y="1691640"/>
            <a:ext cx="3931920" cy="457200"/>
          </a:xfrm>
          <a:prstGeom prst="rect">
            <a:avLst/>
          </a:prstGeom>
          <a:noFill/>
          <a:ln/>
        </p:spPr>
        <p:txBody>
          <a:bodyPr wrap="square" rtlCol="0" anchor="ctr"/>
          <a:lstStyle/>
          <a:p>
            <a:pPr indent="0" marL="0">
              <a:buNone/>
            </a:pPr>
            <a:r>
              <a:rPr lang="en-US" sz="1800" b="1" dirty="0">
                <a:solidFill>
                  <a:srgbClr val="F4A825"/>
                </a:solidFill>
                <a:latin typeface="Georgia" pitchFamily="34" charset="0"/>
                <a:ea typeface="Georgia" pitchFamily="34" charset="-122"/>
                <a:cs typeface="Georgia" pitchFamily="34" charset="-120"/>
              </a:rPr>
              <a:t>Human Bias &amp; Inconsistency</a:t>
            </a:r>
            <a:endParaRPr lang="en-US" sz="1800" dirty="0"/>
          </a:p>
        </p:txBody>
      </p:sp>
      <p:sp>
        <p:nvSpPr>
          <p:cNvPr id="11" name="Text 9"/>
          <p:cNvSpPr/>
          <p:nvPr/>
        </p:nvSpPr>
        <p:spPr>
          <a:xfrm>
            <a:off x="6675120" y="2286000"/>
            <a:ext cx="4754880" cy="914400"/>
          </a:xfrm>
          <a:prstGeom prst="rect">
            <a:avLst/>
          </a:prstGeom>
          <a:noFill/>
          <a:ln/>
        </p:spPr>
        <p:txBody>
          <a:bodyPr wrap="square" rtlCol="0" anchor="ctr"/>
          <a:lstStyle/>
          <a:p>
            <a:pPr indent="0" marL="0">
              <a:lnSpc>
                <a:spcPct val="120000"/>
              </a:lnSpc>
              <a:buNone/>
            </a:pPr>
            <a:r>
              <a:rPr lang="en-US" sz="1300" dirty="0">
                <a:solidFill>
                  <a:srgbClr val="F0F4F5"/>
                </a:solidFill>
                <a:latin typeface="Calibri" pitchFamily="34" charset="0"/>
                <a:ea typeface="Calibri" pitchFamily="34" charset="-122"/>
                <a:cs typeface="Calibri" pitchFamily="34" charset="-120"/>
              </a:rPr>
              <a:t>Manual screening introduces unconscious bias and inconsistent evaluation criteria across different reviewers.</a:t>
            </a:r>
            <a:endParaRPr lang="en-US" sz="1300" dirty="0"/>
          </a:p>
        </p:txBody>
      </p:sp>
      <p:sp>
        <p:nvSpPr>
          <p:cNvPr id="12" name="Shape 10"/>
          <p:cNvSpPr/>
          <p:nvPr/>
        </p:nvSpPr>
        <p:spPr>
          <a:xfrm>
            <a:off x="731520" y="3749040"/>
            <a:ext cx="5303520" cy="1920240"/>
          </a:xfrm>
          <a:prstGeom prst="rect">
            <a:avLst>
              <a:gd name="adj" fmla="val 7143"/>
            </a:avLst>
          </a:prstGeom>
          <a:solidFill>
            <a:srgbClr val="0E4D64"/>
          </a:solidFill>
          <a:ln/>
        </p:spPr>
      </p:sp>
      <p:sp>
        <p:nvSpPr>
          <p:cNvPr id="13" name="Text 11"/>
          <p:cNvSpPr/>
          <p:nvPr/>
        </p:nvSpPr>
        <p:spPr>
          <a:xfrm>
            <a:off x="1005840" y="3931920"/>
            <a:ext cx="548640" cy="548640"/>
          </a:xfrm>
          <a:prstGeom prst="rect">
            <a:avLst/>
          </a:prstGeom>
          <a:noFill/>
          <a:ln/>
        </p:spPr>
        <p:txBody>
          <a:bodyPr wrap="square" rtlCol="0" anchor="ctr"/>
          <a:lstStyle/>
          <a:p>
            <a:pPr indent="0" marL="0">
              <a:buNone/>
            </a:pPr>
            <a:r>
              <a:rPr lang="en-US" sz="2800" dirty="0">
                <a:solidFill>
                  <a:srgbClr val="000000"/>
                </a:solidFill>
              </a:rPr>
              <a:t>📊</a:t>
            </a:r>
            <a:endParaRPr lang="en-US" sz="2800" dirty="0"/>
          </a:p>
        </p:txBody>
      </p:sp>
      <p:sp>
        <p:nvSpPr>
          <p:cNvPr id="14" name="Text 12"/>
          <p:cNvSpPr/>
          <p:nvPr/>
        </p:nvSpPr>
        <p:spPr>
          <a:xfrm>
            <a:off x="1645920" y="3977640"/>
            <a:ext cx="3931920" cy="457200"/>
          </a:xfrm>
          <a:prstGeom prst="rect">
            <a:avLst/>
          </a:prstGeom>
          <a:noFill/>
          <a:ln/>
        </p:spPr>
        <p:txBody>
          <a:bodyPr wrap="square" rtlCol="0" anchor="ctr"/>
          <a:lstStyle/>
          <a:p>
            <a:pPr indent="0" marL="0">
              <a:buNone/>
            </a:pPr>
            <a:r>
              <a:rPr lang="en-US" sz="1800" b="1" dirty="0">
                <a:solidFill>
                  <a:srgbClr val="F4A825"/>
                </a:solidFill>
                <a:latin typeface="Georgia" pitchFamily="34" charset="0"/>
                <a:ea typeface="Georgia" pitchFamily="34" charset="-122"/>
                <a:cs typeface="Georgia" pitchFamily="34" charset="-120"/>
              </a:rPr>
              <a:t>Volume Overload</a:t>
            </a:r>
            <a:endParaRPr lang="en-US" sz="1800" dirty="0"/>
          </a:p>
        </p:txBody>
      </p:sp>
      <p:sp>
        <p:nvSpPr>
          <p:cNvPr id="15" name="Text 13"/>
          <p:cNvSpPr/>
          <p:nvPr/>
        </p:nvSpPr>
        <p:spPr>
          <a:xfrm>
            <a:off x="1005840" y="4572000"/>
            <a:ext cx="4754880" cy="914400"/>
          </a:xfrm>
          <a:prstGeom prst="rect">
            <a:avLst/>
          </a:prstGeom>
          <a:noFill/>
          <a:ln/>
        </p:spPr>
        <p:txBody>
          <a:bodyPr wrap="square" rtlCol="0" anchor="ctr"/>
          <a:lstStyle/>
          <a:p>
            <a:pPr indent="0" marL="0">
              <a:lnSpc>
                <a:spcPct val="120000"/>
              </a:lnSpc>
              <a:buNone/>
            </a:pPr>
            <a:r>
              <a:rPr lang="en-US" sz="1300" dirty="0">
                <a:solidFill>
                  <a:srgbClr val="F0F4F5"/>
                </a:solidFill>
                <a:latin typeface="Calibri" pitchFamily="34" charset="0"/>
                <a:ea typeface="Calibri" pitchFamily="34" charset="-122"/>
                <a:cs typeface="Calibri" pitchFamily="34" charset="-120"/>
              </a:rPr>
              <a:t>Large corporations receive 250+ applications per role. 88% of resumes are considered unqualified, wasting valuable HR resources.</a:t>
            </a:r>
            <a:endParaRPr lang="en-US" sz="1300" dirty="0"/>
          </a:p>
        </p:txBody>
      </p:sp>
      <p:sp>
        <p:nvSpPr>
          <p:cNvPr id="16" name="Shape 14"/>
          <p:cNvSpPr/>
          <p:nvPr/>
        </p:nvSpPr>
        <p:spPr>
          <a:xfrm>
            <a:off x="6400800" y="3749040"/>
            <a:ext cx="5303520" cy="1920240"/>
          </a:xfrm>
          <a:prstGeom prst="rect">
            <a:avLst>
              <a:gd name="adj" fmla="val 7143"/>
            </a:avLst>
          </a:prstGeom>
          <a:solidFill>
            <a:srgbClr val="0E4D64"/>
          </a:solidFill>
          <a:ln/>
        </p:spPr>
      </p:sp>
      <p:sp>
        <p:nvSpPr>
          <p:cNvPr id="17" name="Text 15"/>
          <p:cNvSpPr/>
          <p:nvPr/>
        </p:nvSpPr>
        <p:spPr>
          <a:xfrm>
            <a:off x="6675120" y="3931920"/>
            <a:ext cx="548640" cy="548640"/>
          </a:xfrm>
          <a:prstGeom prst="rect">
            <a:avLst/>
          </a:prstGeom>
          <a:noFill/>
          <a:ln/>
        </p:spPr>
        <p:txBody>
          <a:bodyPr wrap="square" rtlCol="0" anchor="ctr"/>
          <a:lstStyle/>
          <a:p>
            <a:pPr indent="0" marL="0">
              <a:buNone/>
            </a:pPr>
            <a:r>
              <a:rPr lang="en-US" sz="2800" dirty="0">
                <a:solidFill>
                  <a:srgbClr val="000000"/>
                </a:solidFill>
              </a:rPr>
              <a:t>🔍</a:t>
            </a:r>
            <a:endParaRPr lang="en-US" sz="2800" dirty="0"/>
          </a:p>
        </p:txBody>
      </p:sp>
      <p:sp>
        <p:nvSpPr>
          <p:cNvPr id="18" name="Text 16"/>
          <p:cNvSpPr/>
          <p:nvPr/>
        </p:nvSpPr>
        <p:spPr>
          <a:xfrm>
            <a:off x="7315200" y="3977640"/>
            <a:ext cx="3931920" cy="457200"/>
          </a:xfrm>
          <a:prstGeom prst="rect">
            <a:avLst/>
          </a:prstGeom>
          <a:noFill/>
          <a:ln/>
        </p:spPr>
        <p:txBody>
          <a:bodyPr wrap="square" rtlCol="0" anchor="ctr"/>
          <a:lstStyle/>
          <a:p>
            <a:pPr indent="0" marL="0">
              <a:buNone/>
            </a:pPr>
            <a:r>
              <a:rPr lang="en-US" sz="1800" b="1" dirty="0">
                <a:solidFill>
                  <a:srgbClr val="F4A825"/>
                </a:solidFill>
                <a:latin typeface="Georgia" pitchFamily="34" charset="0"/>
                <a:ea typeface="Georgia" pitchFamily="34" charset="-122"/>
                <a:cs typeface="Georgia" pitchFamily="34" charset="-120"/>
              </a:rPr>
              <a:t>Keyword Mismatch</a:t>
            </a:r>
            <a:endParaRPr lang="en-US" sz="1800" dirty="0"/>
          </a:p>
        </p:txBody>
      </p:sp>
      <p:sp>
        <p:nvSpPr>
          <p:cNvPr id="19" name="Text 17"/>
          <p:cNvSpPr/>
          <p:nvPr/>
        </p:nvSpPr>
        <p:spPr>
          <a:xfrm>
            <a:off x="6675120" y="4572000"/>
            <a:ext cx="4754880" cy="914400"/>
          </a:xfrm>
          <a:prstGeom prst="rect">
            <a:avLst/>
          </a:prstGeom>
          <a:noFill/>
          <a:ln/>
        </p:spPr>
        <p:txBody>
          <a:bodyPr wrap="square" rtlCol="0" anchor="ctr"/>
          <a:lstStyle/>
          <a:p>
            <a:pPr indent="0" marL="0">
              <a:lnSpc>
                <a:spcPct val="120000"/>
              </a:lnSpc>
              <a:buNone/>
            </a:pPr>
            <a:r>
              <a:rPr lang="en-US" sz="1300" dirty="0">
                <a:solidFill>
                  <a:srgbClr val="F0F4F5"/>
                </a:solidFill>
                <a:latin typeface="Calibri" pitchFamily="34" charset="0"/>
                <a:ea typeface="Calibri" pitchFamily="34" charset="-122"/>
                <a:cs typeface="Calibri" pitchFamily="34" charset="-120"/>
              </a:rPr>
              <a:t>Traditional ATS systems rely on exact keyword matching, missing qualified candidates who use different terminology.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5"/>
        </a:solidFill>
      </p:bgPr>
    </p:bg>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0D2B3E"/>
          </a:solidFill>
          <a:ln/>
        </p:spPr>
      </p:sp>
      <p:sp>
        <p:nvSpPr>
          <p:cNvPr id="3" name="Text 1"/>
          <p:cNvSpPr/>
          <p:nvPr/>
        </p:nvSpPr>
        <p:spPr>
          <a:xfrm>
            <a:off x="731520" y="137160"/>
            <a:ext cx="7315200" cy="640080"/>
          </a:xfrm>
          <a:prstGeom prst="rect">
            <a:avLst/>
          </a:prstGeom>
          <a:noFill/>
          <a:ln/>
        </p:spPr>
        <p:txBody>
          <a:bodyPr wrap="square" rtlCol="0" anchor="ctr"/>
          <a:lstStyle/>
          <a:p>
            <a:pPr indent="0" marL="0">
              <a:buNone/>
            </a:pPr>
            <a:r>
              <a:rPr lang="en-US" sz="3200" b="1" dirty="0">
                <a:solidFill>
                  <a:srgbClr val="F4A825"/>
                </a:solidFill>
                <a:latin typeface="Georgia" pitchFamily="34" charset="0"/>
                <a:ea typeface="Georgia" pitchFamily="34" charset="-122"/>
                <a:cs typeface="Georgia" pitchFamily="34" charset="-120"/>
              </a:rPr>
              <a:t>Tools &amp; Technologies Used</a:t>
            </a:r>
            <a:endParaRPr lang="en-US" sz="3200" dirty="0"/>
          </a:p>
        </p:txBody>
      </p:sp>
      <p:sp>
        <p:nvSpPr>
          <p:cNvPr id="4" name="Shape 2"/>
          <p:cNvSpPr/>
          <p:nvPr/>
        </p:nvSpPr>
        <p:spPr>
          <a:xfrm>
            <a:off x="548640" y="1371600"/>
            <a:ext cx="2011680" cy="2011680"/>
          </a:xfrm>
          <a:prstGeom prst="rect">
            <a:avLst>
              <a:gd name="adj" fmla="val 6818"/>
            </a:avLst>
          </a:prstGeom>
          <a:solidFill>
            <a:srgbClr val="FFFFFF"/>
          </a:solidFill>
          <a:ln/>
          <a:effectLst>
            <a:outerShdw sx="100000" sy="100000" kx="0" ky="0" algn="bl" rotWithShape="0" blurRad="50800" dist="25400" dir="16200000">
              <a:srgbClr val="00000015">
                <a:alpha val="75000"/>
              </a:srgbClr>
            </a:outerShdw>
          </a:effectLst>
        </p:spPr>
      </p:sp>
      <p:sp>
        <p:nvSpPr>
          <p:cNvPr id="5" name="Shape 3"/>
          <p:cNvSpPr/>
          <p:nvPr/>
        </p:nvSpPr>
        <p:spPr>
          <a:xfrm>
            <a:off x="1143000" y="1645920"/>
            <a:ext cx="822960" cy="822960"/>
          </a:xfrm>
          <a:prstGeom prst="ellipse">
            <a:avLst/>
          </a:prstGeom>
          <a:solidFill>
            <a:srgbClr val="3498DB"/>
          </a:solidFill>
          <a:ln/>
        </p:spPr>
      </p:sp>
      <p:sp>
        <p:nvSpPr>
          <p:cNvPr id="6" name="Text 4"/>
          <p:cNvSpPr/>
          <p:nvPr/>
        </p:nvSpPr>
        <p:spPr>
          <a:xfrm>
            <a:off x="1143000" y="1645920"/>
            <a:ext cx="822960" cy="8229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P</a:t>
            </a:r>
            <a:endParaRPr lang="en-US" sz="2800" dirty="0"/>
          </a:p>
        </p:txBody>
      </p:sp>
      <p:sp>
        <p:nvSpPr>
          <p:cNvPr id="7" name="Text 5"/>
          <p:cNvSpPr/>
          <p:nvPr/>
        </p:nvSpPr>
        <p:spPr>
          <a:xfrm>
            <a:off x="640080" y="2606040"/>
            <a:ext cx="1828800" cy="411480"/>
          </a:xfrm>
          <a:prstGeom prst="rect">
            <a:avLst/>
          </a:prstGeom>
          <a:noFill/>
          <a:ln/>
        </p:spPr>
        <p:txBody>
          <a:bodyPr wrap="square" rtlCol="0" anchor="ctr"/>
          <a:lstStyle/>
          <a:p>
            <a:pPr algn="ctr" indent="0" marL="0">
              <a:buNone/>
            </a:pPr>
            <a:r>
              <a:rPr lang="en-US" sz="1400" b="1" dirty="0">
                <a:solidFill>
                  <a:srgbClr val="1A2A33"/>
                </a:solidFill>
                <a:latin typeface="Calibri" pitchFamily="34" charset="0"/>
                <a:ea typeface="Calibri" pitchFamily="34" charset="-122"/>
                <a:cs typeface="Calibri" pitchFamily="34" charset="-120"/>
              </a:rPr>
              <a:t>Python 3.x</a:t>
            </a:r>
            <a:endParaRPr lang="en-US" sz="1400" dirty="0"/>
          </a:p>
        </p:txBody>
      </p:sp>
      <p:sp>
        <p:nvSpPr>
          <p:cNvPr id="8" name="Text 6"/>
          <p:cNvSpPr/>
          <p:nvPr/>
        </p:nvSpPr>
        <p:spPr>
          <a:xfrm>
            <a:off x="640080" y="2926080"/>
            <a:ext cx="1828800" cy="32004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Language</a:t>
            </a:r>
            <a:endParaRPr lang="en-US" sz="1100" dirty="0"/>
          </a:p>
        </p:txBody>
      </p:sp>
      <p:sp>
        <p:nvSpPr>
          <p:cNvPr id="9" name="Shape 7"/>
          <p:cNvSpPr/>
          <p:nvPr/>
        </p:nvSpPr>
        <p:spPr>
          <a:xfrm>
            <a:off x="2834640" y="1371600"/>
            <a:ext cx="2011680" cy="2011680"/>
          </a:xfrm>
          <a:prstGeom prst="rect">
            <a:avLst>
              <a:gd name="adj" fmla="val 6818"/>
            </a:avLst>
          </a:prstGeom>
          <a:solidFill>
            <a:srgbClr val="FFFFFF"/>
          </a:solidFill>
          <a:ln/>
          <a:effectLst>
            <a:outerShdw sx="100000" sy="100000" kx="0" ky="0" algn="bl" rotWithShape="0" blurRad="50800" dist="25400" dir="16200000">
              <a:srgbClr val="00000015">
                <a:alpha val="75000"/>
              </a:srgbClr>
            </a:outerShdw>
          </a:effectLst>
        </p:spPr>
      </p:sp>
      <p:sp>
        <p:nvSpPr>
          <p:cNvPr id="10" name="Shape 8"/>
          <p:cNvSpPr/>
          <p:nvPr/>
        </p:nvSpPr>
        <p:spPr>
          <a:xfrm>
            <a:off x="3429000" y="1645920"/>
            <a:ext cx="822960" cy="822960"/>
          </a:xfrm>
          <a:prstGeom prst="ellipse">
            <a:avLst/>
          </a:prstGeom>
          <a:solidFill>
            <a:srgbClr val="2ECC71"/>
          </a:solidFill>
          <a:ln/>
        </p:spPr>
      </p:sp>
      <p:sp>
        <p:nvSpPr>
          <p:cNvPr id="11" name="Text 9"/>
          <p:cNvSpPr/>
          <p:nvPr/>
        </p:nvSpPr>
        <p:spPr>
          <a:xfrm>
            <a:off x="3429000" y="1645920"/>
            <a:ext cx="822960" cy="8229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S</a:t>
            </a:r>
            <a:endParaRPr lang="en-US" sz="2800" dirty="0"/>
          </a:p>
        </p:txBody>
      </p:sp>
      <p:sp>
        <p:nvSpPr>
          <p:cNvPr id="12" name="Text 10"/>
          <p:cNvSpPr/>
          <p:nvPr/>
        </p:nvSpPr>
        <p:spPr>
          <a:xfrm>
            <a:off x="2926080" y="2606040"/>
            <a:ext cx="1828800" cy="411480"/>
          </a:xfrm>
          <a:prstGeom prst="rect">
            <a:avLst/>
          </a:prstGeom>
          <a:noFill/>
          <a:ln/>
        </p:spPr>
        <p:txBody>
          <a:bodyPr wrap="square" rtlCol="0" anchor="ctr"/>
          <a:lstStyle/>
          <a:p>
            <a:pPr algn="ctr" indent="0" marL="0">
              <a:buNone/>
            </a:pPr>
            <a:r>
              <a:rPr lang="en-US" sz="1400" b="1" dirty="0">
                <a:solidFill>
                  <a:srgbClr val="1A2A33"/>
                </a:solidFill>
                <a:latin typeface="Calibri" pitchFamily="34" charset="0"/>
                <a:ea typeface="Calibri" pitchFamily="34" charset="-122"/>
                <a:cs typeface="Calibri" pitchFamily="34" charset="-120"/>
              </a:rPr>
              <a:t>Scikit-learn</a:t>
            </a:r>
            <a:endParaRPr lang="en-US" sz="1400" dirty="0"/>
          </a:p>
        </p:txBody>
      </p:sp>
      <p:sp>
        <p:nvSpPr>
          <p:cNvPr id="13" name="Text 11"/>
          <p:cNvSpPr/>
          <p:nvPr/>
        </p:nvSpPr>
        <p:spPr>
          <a:xfrm>
            <a:off x="2926080" y="2926080"/>
            <a:ext cx="1828800" cy="32004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ML Library</a:t>
            </a:r>
            <a:endParaRPr lang="en-US" sz="1100" dirty="0"/>
          </a:p>
        </p:txBody>
      </p:sp>
      <p:sp>
        <p:nvSpPr>
          <p:cNvPr id="14" name="Shape 12"/>
          <p:cNvSpPr/>
          <p:nvPr/>
        </p:nvSpPr>
        <p:spPr>
          <a:xfrm>
            <a:off x="5120640" y="1371600"/>
            <a:ext cx="2011680" cy="2011680"/>
          </a:xfrm>
          <a:prstGeom prst="rect">
            <a:avLst>
              <a:gd name="adj" fmla="val 6818"/>
            </a:avLst>
          </a:prstGeom>
          <a:solidFill>
            <a:srgbClr val="FFFFFF"/>
          </a:solidFill>
          <a:ln/>
          <a:effectLst>
            <a:outerShdw sx="100000" sy="100000" kx="0" ky="0" algn="bl" rotWithShape="0" blurRad="50800" dist="25400" dir="16200000">
              <a:srgbClr val="00000015">
                <a:alpha val="75000"/>
              </a:srgbClr>
            </a:outerShdw>
          </a:effectLst>
        </p:spPr>
      </p:sp>
      <p:sp>
        <p:nvSpPr>
          <p:cNvPr id="15" name="Shape 13"/>
          <p:cNvSpPr/>
          <p:nvPr/>
        </p:nvSpPr>
        <p:spPr>
          <a:xfrm>
            <a:off x="5715000" y="1645920"/>
            <a:ext cx="822960" cy="822960"/>
          </a:xfrm>
          <a:prstGeom prst="ellipse">
            <a:avLst/>
          </a:prstGeom>
          <a:solidFill>
            <a:srgbClr val="F39C12"/>
          </a:solidFill>
          <a:ln/>
        </p:spPr>
      </p:sp>
      <p:sp>
        <p:nvSpPr>
          <p:cNvPr id="16" name="Text 14"/>
          <p:cNvSpPr/>
          <p:nvPr/>
        </p:nvSpPr>
        <p:spPr>
          <a:xfrm>
            <a:off x="5715000" y="1645920"/>
            <a:ext cx="822960" cy="8229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N</a:t>
            </a:r>
            <a:endParaRPr lang="en-US" sz="2800" dirty="0"/>
          </a:p>
        </p:txBody>
      </p:sp>
      <p:sp>
        <p:nvSpPr>
          <p:cNvPr id="17" name="Text 15"/>
          <p:cNvSpPr/>
          <p:nvPr/>
        </p:nvSpPr>
        <p:spPr>
          <a:xfrm>
            <a:off x="5212080" y="2606040"/>
            <a:ext cx="1828800" cy="411480"/>
          </a:xfrm>
          <a:prstGeom prst="rect">
            <a:avLst/>
          </a:prstGeom>
          <a:noFill/>
          <a:ln/>
        </p:spPr>
        <p:txBody>
          <a:bodyPr wrap="square" rtlCol="0" anchor="ctr"/>
          <a:lstStyle/>
          <a:p>
            <a:pPr algn="ctr" indent="0" marL="0">
              <a:buNone/>
            </a:pPr>
            <a:r>
              <a:rPr lang="en-US" sz="1400" b="1" dirty="0">
                <a:solidFill>
                  <a:srgbClr val="1A2A33"/>
                </a:solidFill>
                <a:latin typeface="Calibri" pitchFamily="34" charset="0"/>
                <a:ea typeface="Calibri" pitchFamily="34" charset="-122"/>
                <a:cs typeface="Calibri" pitchFamily="34" charset="-120"/>
              </a:rPr>
              <a:t>NLTK</a:t>
            </a:r>
            <a:endParaRPr lang="en-US" sz="1400" dirty="0"/>
          </a:p>
        </p:txBody>
      </p:sp>
      <p:sp>
        <p:nvSpPr>
          <p:cNvPr id="18" name="Text 16"/>
          <p:cNvSpPr/>
          <p:nvPr/>
        </p:nvSpPr>
        <p:spPr>
          <a:xfrm>
            <a:off x="5212080" y="2926080"/>
            <a:ext cx="1828800" cy="32004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NLP</a:t>
            </a:r>
            <a:endParaRPr lang="en-US" sz="1100" dirty="0"/>
          </a:p>
        </p:txBody>
      </p:sp>
      <p:sp>
        <p:nvSpPr>
          <p:cNvPr id="19" name="Shape 17"/>
          <p:cNvSpPr/>
          <p:nvPr/>
        </p:nvSpPr>
        <p:spPr>
          <a:xfrm>
            <a:off x="7406640" y="1371600"/>
            <a:ext cx="2011680" cy="2011680"/>
          </a:xfrm>
          <a:prstGeom prst="rect">
            <a:avLst>
              <a:gd name="adj" fmla="val 6818"/>
            </a:avLst>
          </a:prstGeom>
          <a:solidFill>
            <a:srgbClr val="FFFFFF"/>
          </a:solidFill>
          <a:ln/>
          <a:effectLst>
            <a:outerShdw sx="100000" sy="100000" kx="0" ky="0" algn="bl" rotWithShape="0" blurRad="50800" dist="25400" dir="16200000">
              <a:srgbClr val="00000015">
                <a:alpha val="75000"/>
              </a:srgbClr>
            </a:outerShdw>
          </a:effectLst>
        </p:spPr>
      </p:sp>
      <p:sp>
        <p:nvSpPr>
          <p:cNvPr id="20" name="Shape 18"/>
          <p:cNvSpPr/>
          <p:nvPr/>
        </p:nvSpPr>
        <p:spPr>
          <a:xfrm>
            <a:off x="8001000" y="1645920"/>
            <a:ext cx="822960" cy="822960"/>
          </a:xfrm>
          <a:prstGeom prst="ellipse">
            <a:avLst/>
          </a:prstGeom>
          <a:solidFill>
            <a:srgbClr val="0E4D64"/>
          </a:solidFill>
          <a:ln/>
        </p:spPr>
      </p:sp>
      <p:sp>
        <p:nvSpPr>
          <p:cNvPr id="21" name="Text 19"/>
          <p:cNvSpPr/>
          <p:nvPr/>
        </p:nvSpPr>
        <p:spPr>
          <a:xfrm>
            <a:off x="8001000" y="1645920"/>
            <a:ext cx="822960" cy="8229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P</a:t>
            </a:r>
            <a:endParaRPr lang="en-US" sz="2800" dirty="0"/>
          </a:p>
        </p:txBody>
      </p:sp>
      <p:sp>
        <p:nvSpPr>
          <p:cNvPr id="22" name="Text 20"/>
          <p:cNvSpPr/>
          <p:nvPr/>
        </p:nvSpPr>
        <p:spPr>
          <a:xfrm>
            <a:off x="7498080" y="2606040"/>
            <a:ext cx="1828800" cy="411480"/>
          </a:xfrm>
          <a:prstGeom prst="rect">
            <a:avLst/>
          </a:prstGeom>
          <a:noFill/>
          <a:ln/>
        </p:spPr>
        <p:txBody>
          <a:bodyPr wrap="square" rtlCol="0" anchor="ctr"/>
          <a:lstStyle/>
          <a:p>
            <a:pPr algn="ctr" indent="0" marL="0">
              <a:buNone/>
            </a:pPr>
            <a:r>
              <a:rPr lang="en-US" sz="1400" b="1" dirty="0">
                <a:solidFill>
                  <a:srgbClr val="1A2A33"/>
                </a:solidFill>
                <a:latin typeface="Calibri" pitchFamily="34" charset="0"/>
                <a:ea typeface="Calibri" pitchFamily="34" charset="-122"/>
                <a:cs typeface="Calibri" pitchFamily="34" charset="-120"/>
              </a:rPr>
              <a:t>Pandas</a:t>
            </a:r>
            <a:endParaRPr lang="en-US" sz="1400" dirty="0"/>
          </a:p>
        </p:txBody>
      </p:sp>
      <p:sp>
        <p:nvSpPr>
          <p:cNvPr id="23" name="Text 21"/>
          <p:cNvSpPr/>
          <p:nvPr/>
        </p:nvSpPr>
        <p:spPr>
          <a:xfrm>
            <a:off x="7498080" y="2926080"/>
            <a:ext cx="1828800" cy="32004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Data</a:t>
            </a:r>
            <a:endParaRPr lang="en-US" sz="1100" dirty="0"/>
          </a:p>
        </p:txBody>
      </p:sp>
      <p:sp>
        <p:nvSpPr>
          <p:cNvPr id="24" name="Shape 22"/>
          <p:cNvSpPr/>
          <p:nvPr/>
        </p:nvSpPr>
        <p:spPr>
          <a:xfrm>
            <a:off x="9692640" y="1371600"/>
            <a:ext cx="2011680" cy="2011680"/>
          </a:xfrm>
          <a:prstGeom prst="rect">
            <a:avLst>
              <a:gd name="adj" fmla="val 6818"/>
            </a:avLst>
          </a:prstGeom>
          <a:solidFill>
            <a:srgbClr val="FFFFFF"/>
          </a:solidFill>
          <a:ln/>
          <a:effectLst>
            <a:outerShdw sx="100000" sy="100000" kx="0" ky="0" algn="bl" rotWithShape="0" blurRad="50800" dist="25400" dir="16200000">
              <a:srgbClr val="00000015">
                <a:alpha val="75000"/>
              </a:srgbClr>
            </a:outerShdw>
          </a:effectLst>
        </p:spPr>
      </p:sp>
      <p:sp>
        <p:nvSpPr>
          <p:cNvPr id="25" name="Shape 23"/>
          <p:cNvSpPr/>
          <p:nvPr/>
        </p:nvSpPr>
        <p:spPr>
          <a:xfrm>
            <a:off x="10287000" y="1645920"/>
            <a:ext cx="822960" cy="822960"/>
          </a:xfrm>
          <a:prstGeom prst="ellipse">
            <a:avLst/>
          </a:prstGeom>
          <a:solidFill>
            <a:srgbClr val="E74C3C"/>
          </a:solidFill>
          <a:ln/>
        </p:spPr>
      </p:sp>
      <p:sp>
        <p:nvSpPr>
          <p:cNvPr id="26" name="Text 24"/>
          <p:cNvSpPr/>
          <p:nvPr/>
        </p:nvSpPr>
        <p:spPr>
          <a:xfrm>
            <a:off x="10287000" y="1645920"/>
            <a:ext cx="822960" cy="8229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N</a:t>
            </a:r>
            <a:endParaRPr lang="en-US" sz="2800" dirty="0"/>
          </a:p>
        </p:txBody>
      </p:sp>
      <p:sp>
        <p:nvSpPr>
          <p:cNvPr id="27" name="Text 25"/>
          <p:cNvSpPr/>
          <p:nvPr/>
        </p:nvSpPr>
        <p:spPr>
          <a:xfrm>
            <a:off x="9784080" y="2606040"/>
            <a:ext cx="1828800" cy="411480"/>
          </a:xfrm>
          <a:prstGeom prst="rect">
            <a:avLst/>
          </a:prstGeom>
          <a:noFill/>
          <a:ln/>
        </p:spPr>
        <p:txBody>
          <a:bodyPr wrap="square" rtlCol="0" anchor="ctr"/>
          <a:lstStyle/>
          <a:p>
            <a:pPr algn="ctr" indent="0" marL="0">
              <a:buNone/>
            </a:pPr>
            <a:r>
              <a:rPr lang="en-US" sz="1400" b="1" dirty="0">
                <a:solidFill>
                  <a:srgbClr val="1A2A33"/>
                </a:solidFill>
                <a:latin typeface="Calibri" pitchFamily="34" charset="0"/>
                <a:ea typeface="Calibri" pitchFamily="34" charset="-122"/>
                <a:cs typeface="Calibri" pitchFamily="34" charset="-120"/>
              </a:rPr>
              <a:t>NumPy</a:t>
            </a:r>
            <a:endParaRPr lang="en-US" sz="1400" dirty="0"/>
          </a:p>
        </p:txBody>
      </p:sp>
      <p:sp>
        <p:nvSpPr>
          <p:cNvPr id="28" name="Text 26"/>
          <p:cNvSpPr/>
          <p:nvPr/>
        </p:nvSpPr>
        <p:spPr>
          <a:xfrm>
            <a:off x="9784080" y="2926080"/>
            <a:ext cx="1828800" cy="32004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Numerical</a:t>
            </a:r>
            <a:endParaRPr lang="en-US" sz="1100" dirty="0"/>
          </a:p>
        </p:txBody>
      </p:sp>
      <p:sp>
        <p:nvSpPr>
          <p:cNvPr id="29" name="Shape 27"/>
          <p:cNvSpPr/>
          <p:nvPr/>
        </p:nvSpPr>
        <p:spPr>
          <a:xfrm>
            <a:off x="548640" y="3749040"/>
            <a:ext cx="2011680" cy="2011680"/>
          </a:xfrm>
          <a:prstGeom prst="rect">
            <a:avLst>
              <a:gd name="adj" fmla="val 6818"/>
            </a:avLst>
          </a:prstGeom>
          <a:solidFill>
            <a:srgbClr val="FFFFFF"/>
          </a:solidFill>
          <a:ln/>
          <a:effectLst>
            <a:outerShdw sx="100000" sy="100000" kx="0" ky="0" algn="bl" rotWithShape="0" blurRad="50800" dist="25400" dir="16200000">
              <a:srgbClr val="00000015">
                <a:alpha val="75000"/>
              </a:srgbClr>
            </a:outerShdw>
          </a:effectLst>
        </p:spPr>
      </p:sp>
      <p:sp>
        <p:nvSpPr>
          <p:cNvPr id="30" name="Shape 28"/>
          <p:cNvSpPr/>
          <p:nvPr/>
        </p:nvSpPr>
        <p:spPr>
          <a:xfrm>
            <a:off x="1143000" y="4023360"/>
            <a:ext cx="822960" cy="822960"/>
          </a:xfrm>
          <a:prstGeom prst="ellipse">
            <a:avLst/>
          </a:prstGeom>
          <a:solidFill>
            <a:srgbClr val="F4A825"/>
          </a:solidFill>
          <a:ln/>
        </p:spPr>
      </p:sp>
      <p:sp>
        <p:nvSpPr>
          <p:cNvPr id="31" name="Text 29"/>
          <p:cNvSpPr/>
          <p:nvPr/>
        </p:nvSpPr>
        <p:spPr>
          <a:xfrm>
            <a:off x="1143000" y="4023360"/>
            <a:ext cx="822960" cy="8229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M</a:t>
            </a:r>
            <a:endParaRPr lang="en-US" sz="2800" dirty="0"/>
          </a:p>
        </p:txBody>
      </p:sp>
      <p:sp>
        <p:nvSpPr>
          <p:cNvPr id="32" name="Text 30"/>
          <p:cNvSpPr/>
          <p:nvPr/>
        </p:nvSpPr>
        <p:spPr>
          <a:xfrm>
            <a:off x="640080" y="4983480"/>
            <a:ext cx="1828800" cy="411480"/>
          </a:xfrm>
          <a:prstGeom prst="rect">
            <a:avLst/>
          </a:prstGeom>
          <a:noFill/>
          <a:ln/>
        </p:spPr>
        <p:txBody>
          <a:bodyPr wrap="square" rtlCol="0" anchor="ctr"/>
          <a:lstStyle/>
          <a:p>
            <a:pPr algn="ctr" indent="0" marL="0">
              <a:buNone/>
            </a:pPr>
            <a:r>
              <a:rPr lang="en-US" sz="1400" b="1" dirty="0">
                <a:solidFill>
                  <a:srgbClr val="1A2A33"/>
                </a:solidFill>
                <a:latin typeface="Calibri" pitchFamily="34" charset="0"/>
                <a:ea typeface="Calibri" pitchFamily="34" charset="-122"/>
                <a:cs typeface="Calibri" pitchFamily="34" charset="-120"/>
              </a:rPr>
              <a:t>Matplotlib</a:t>
            </a:r>
            <a:endParaRPr lang="en-US" sz="1400" dirty="0"/>
          </a:p>
        </p:txBody>
      </p:sp>
      <p:sp>
        <p:nvSpPr>
          <p:cNvPr id="33" name="Text 31"/>
          <p:cNvSpPr/>
          <p:nvPr/>
        </p:nvSpPr>
        <p:spPr>
          <a:xfrm>
            <a:off x="640080" y="5303520"/>
            <a:ext cx="1828800" cy="32004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Visualization</a:t>
            </a:r>
            <a:endParaRPr lang="en-US" sz="1100" dirty="0"/>
          </a:p>
        </p:txBody>
      </p:sp>
      <p:sp>
        <p:nvSpPr>
          <p:cNvPr id="34" name="Shape 32"/>
          <p:cNvSpPr/>
          <p:nvPr/>
        </p:nvSpPr>
        <p:spPr>
          <a:xfrm>
            <a:off x="2834640" y="3749040"/>
            <a:ext cx="2011680" cy="2011680"/>
          </a:xfrm>
          <a:prstGeom prst="rect">
            <a:avLst>
              <a:gd name="adj" fmla="val 6818"/>
            </a:avLst>
          </a:prstGeom>
          <a:solidFill>
            <a:srgbClr val="FFFFFF"/>
          </a:solidFill>
          <a:ln/>
          <a:effectLst>
            <a:outerShdw sx="100000" sy="100000" kx="0" ky="0" algn="bl" rotWithShape="0" blurRad="50800" dist="25400" dir="16200000">
              <a:srgbClr val="00000015">
                <a:alpha val="75000"/>
              </a:srgbClr>
            </a:outerShdw>
          </a:effectLst>
        </p:spPr>
      </p:sp>
      <p:sp>
        <p:nvSpPr>
          <p:cNvPr id="35" name="Shape 33"/>
          <p:cNvSpPr/>
          <p:nvPr/>
        </p:nvSpPr>
        <p:spPr>
          <a:xfrm>
            <a:off x="3429000" y="4023360"/>
            <a:ext cx="822960" cy="822960"/>
          </a:xfrm>
          <a:prstGeom prst="ellipse">
            <a:avLst/>
          </a:prstGeom>
          <a:solidFill>
            <a:srgbClr val="3498DB"/>
          </a:solidFill>
          <a:ln/>
        </p:spPr>
      </p:sp>
      <p:sp>
        <p:nvSpPr>
          <p:cNvPr id="36" name="Text 34"/>
          <p:cNvSpPr/>
          <p:nvPr/>
        </p:nvSpPr>
        <p:spPr>
          <a:xfrm>
            <a:off x="3429000" y="4023360"/>
            <a:ext cx="822960" cy="8229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S</a:t>
            </a:r>
            <a:endParaRPr lang="en-US" sz="2800" dirty="0"/>
          </a:p>
        </p:txBody>
      </p:sp>
      <p:sp>
        <p:nvSpPr>
          <p:cNvPr id="37" name="Text 35"/>
          <p:cNvSpPr/>
          <p:nvPr/>
        </p:nvSpPr>
        <p:spPr>
          <a:xfrm>
            <a:off x="2926080" y="4983480"/>
            <a:ext cx="1828800" cy="411480"/>
          </a:xfrm>
          <a:prstGeom prst="rect">
            <a:avLst/>
          </a:prstGeom>
          <a:noFill/>
          <a:ln/>
        </p:spPr>
        <p:txBody>
          <a:bodyPr wrap="square" rtlCol="0" anchor="ctr"/>
          <a:lstStyle/>
          <a:p>
            <a:pPr algn="ctr" indent="0" marL="0">
              <a:buNone/>
            </a:pPr>
            <a:r>
              <a:rPr lang="en-US" sz="1400" b="1" dirty="0">
                <a:solidFill>
                  <a:srgbClr val="1A2A33"/>
                </a:solidFill>
                <a:latin typeface="Calibri" pitchFamily="34" charset="0"/>
                <a:ea typeface="Calibri" pitchFamily="34" charset="-122"/>
                <a:cs typeface="Calibri" pitchFamily="34" charset="-120"/>
              </a:rPr>
              <a:t>Seaborn</a:t>
            </a:r>
            <a:endParaRPr lang="en-US" sz="1400" dirty="0"/>
          </a:p>
        </p:txBody>
      </p:sp>
      <p:sp>
        <p:nvSpPr>
          <p:cNvPr id="38" name="Text 36"/>
          <p:cNvSpPr/>
          <p:nvPr/>
        </p:nvSpPr>
        <p:spPr>
          <a:xfrm>
            <a:off x="2926080" y="5303520"/>
            <a:ext cx="1828800" cy="32004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Statistical Plots</a:t>
            </a:r>
            <a:endParaRPr lang="en-US" sz="1100" dirty="0"/>
          </a:p>
        </p:txBody>
      </p:sp>
      <p:sp>
        <p:nvSpPr>
          <p:cNvPr id="39" name="Shape 37"/>
          <p:cNvSpPr/>
          <p:nvPr/>
        </p:nvSpPr>
        <p:spPr>
          <a:xfrm>
            <a:off x="5120640" y="3749040"/>
            <a:ext cx="2011680" cy="2011680"/>
          </a:xfrm>
          <a:prstGeom prst="rect">
            <a:avLst>
              <a:gd name="adj" fmla="val 6818"/>
            </a:avLst>
          </a:prstGeom>
          <a:solidFill>
            <a:srgbClr val="FFFFFF"/>
          </a:solidFill>
          <a:ln/>
          <a:effectLst>
            <a:outerShdw sx="100000" sy="100000" kx="0" ky="0" algn="bl" rotWithShape="0" blurRad="50800" dist="25400" dir="16200000">
              <a:srgbClr val="00000015">
                <a:alpha val="75000"/>
              </a:srgbClr>
            </a:outerShdw>
          </a:effectLst>
        </p:spPr>
      </p:sp>
      <p:sp>
        <p:nvSpPr>
          <p:cNvPr id="40" name="Shape 38"/>
          <p:cNvSpPr/>
          <p:nvPr/>
        </p:nvSpPr>
        <p:spPr>
          <a:xfrm>
            <a:off x="5715000" y="4023360"/>
            <a:ext cx="822960" cy="822960"/>
          </a:xfrm>
          <a:prstGeom prst="ellipse">
            <a:avLst/>
          </a:prstGeom>
          <a:solidFill>
            <a:srgbClr val="2ECC71"/>
          </a:solidFill>
          <a:ln/>
        </p:spPr>
      </p:sp>
      <p:sp>
        <p:nvSpPr>
          <p:cNvPr id="41" name="Text 39"/>
          <p:cNvSpPr/>
          <p:nvPr/>
        </p:nvSpPr>
        <p:spPr>
          <a:xfrm>
            <a:off x="5715000" y="4023360"/>
            <a:ext cx="822960" cy="8229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T</a:t>
            </a:r>
            <a:endParaRPr lang="en-US" sz="2800" dirty="0"/>
          </a:p>
        </p:txBody>
      </p:sp>
      <p:sp>
        <p:nvSpPr>
          <p:cNvPr id="42" name="Text 40"/>
          <p:cNvSpPr/>
          <p:nvPr/>
        </p:nvSpPr>
        <p:spPr>
          <a:xfrm>
            <a:off x="5212080" y="4983480"/>
            <a:ext cx="1828800" cy="411480"/>
          </a:xfrm>
          <a:prstGeom prst="rect">
            <a:avLst/>
          </a:prstGeom>
          <a:noFill/>
          <a:ln/>
        </p:spPr>
        <p:txBody>
          <a:bodyPr wrap="square" rtlCol="0" anchor="ctr"/>
          <a:lstStyle/>
          <a:p>
            <a:pPr algn="ctr" indent="0" marL="0">
              <a:buNone/>
            </a:pPr>
            <a:r>
              <a:rPr lang="en-US" sz="1400" b="1" dirty="0">
                <a:solidFill>
                  <a:srgbClr val="1A2A33"/>
                </a:solidFill>
                <a:latin typeface="Calibri" pitchFamily="34" charset="0"/>
                <a:ea typeface="Calibri" pitchFamily="34" charset="-122"/>
                <a:cs typeface="Calibri" pitchFamily="34" charset="-120"/>
              </a:rPr>
              <a:t>TF-IDF</a:t>
            </a:r>
            <a:endParaRPr lang="en-US" sz="1400" dirty="0"/>
          </a:p>
        </p:txBody>
      </p:sp>
      <p:sp>
        <p:nvSpPr>
          <p:cNvPr id="43" name="Text 41"/>
          <p:cNvSpPr/>
          <p:nvPr/>
        </p:nvSpPr>
        <p:spPr>
          <a:xfrm>
            <a:off x="5212080" y="5303520"/>
            <a:ext cx="1828800" cy="32004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Feature Extraction</a:t>
            </a:r>
            <a:endParaRPr lang="en-US" sz="1100" dirty="0"/>
          </a:p>
        </p:txBody>
      </p:sp>
      <p:sp>
        <p:nvSpPr>
          <p:cNvPr id="44" name="Shape 42"/>
          <p:cNvSpPr/>
          <p:nvPr/>
        </p:nvSpPr>
        <p:spPr>
          <a:xfrm>
            <a:off x="7406640" y="3749040"/>
            <a:ext cx="2011680" cy="2011680"/>
          </a:xfrm>
          <a:prstGeom prst="rect">
            <a:avLst>
              <a:gd name="adj" fmla="val 6818"/>
            </a:avLst>
          </a:prstGeom>
          <a:solidFill>
            <a:srgbClr val="FFFFFF"/>
          </a:solidFill>
          <a:ln/>
          <a:effectLst>
            <a:outerShdw sx="100000" sy="100000" kx="0" ky="0" algn="bl" rotWithShape="0" blurRad="50800" dist="25400" dir="16200000">
              <a:srgbClr val="00000015">
                <a:alpha val="75000"/>
              </a:srgbClr>
            </a:outerShdw>
          </a:effectLst>
        </p:spPr>
      </p:sp>
      <p:sp>
        <p:nvSpPr>
          <p:cNvPr id="45" name="Shape 43"/>
          <p:cNvSpPr/>
          <p:nvPr/>
        </p:nvSpPr>
        <p:spPr>
          <a:xfrm>
            <a:off x="8001000" y="4023360"/>
            <a:ext cx="822960" cy="822960"/>
          </a:xfrm>
          <a:prstGeom prst="ellipse">
            <a:avLst/>
          </a:prstGeom>
          <a:solidFill>
            <a:srgbClr val="F39C12"/>
          </a:solidFill>
          <a:ln/>
        </p:spPr>
      </p:sp>
      <p:sp>
        <p:nvSpPr>
          <p:cNvPr id="46" name="Text 44"/>
          <p:cNvSpPr/>
          <p:nvPr/>
        </p:nvSpPr>
        <p:spPr>
          <a:xfrm>
            <a:off x="8001000" y="4023360"/>
            <a:ext cx="822960" cy="8229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J</a:t>
            </a:r>
            <a:endParaRPr lang="en-US" sz="2800" dirty="0"/>
          </a:p>
        </p:txBody>
      </p:sp>
      <p:sp>
        <p:nvSpPr>
          <p:cNvPr id="47" name="Text 45"/>
          <p:cNvSpPr/>
          <p:nvPr/>
        </p:nvSpPr>
        <p:spPr>
          <a:xfrm>
            <a:off x="7498080" y="4983480"/>
            <a:ext cx="1828800" cy="411480"/>
          </a:xfrm>
          <a:prstGeom prst="rect">
            <a:avLst/>
          </a:prstGeom>
          <a:noFill/>
          <a:ln/>
        </p:spPr>
        <p:txBody>
          <a:bodyPr wrap="square" rtlCol="0" anchor="ctr"/>
          <a:lstStyle/>
          <a:p>
            <a:pPr algn="ctr" indent="0" marL="0">
              <a:buNone/>
            </a:pPr>
            <a:r>
              <a:rPr lang="en-US" sz="1400" b="1" dirty="0">
                <a:solidFill>
                  <a:srgbClr val="1A2A33"/>
                </a:solidFill>
                <a:latin typeface="Calibri" pitchFamily="34" charset="0"/>
                <a:ea typeface="Calibri" pitchFamily="34" charset="-122"/>
                <a:cs typeface="Calibri" pitchFamily="34" charset="-120"/>
              </a:rPr>
              <a:t>Jupyter</a:t>
            </a:r>
            <a:endParaRPr lang="en-US" sz="1400" dirty="0"/>
          </a:p>
        </p:txBody>
      </p:sp>
      <p:sp>
        <p:nvSpPr>
          <p:cNvPr id="48" name="Text 46"/>
          <p:cNvSpPr/>
          <p:nvPr/>
        </p:nvSpPr>
        <p:spPr>
          <a:xfrm>
            <a:off x="7498080" y="5303520"/>
            <a:ext cx="1828800" cy="32004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Environment</a:t>
            </a:r>
            <a:endParaRPr lang="en-US" sz="1100" dirty="0"/>
          </a:p>
        </p:txBody>
      </p:sp>
      <p:sp>
        <p:nvSpPr>
          <p:cNvPr id="49" name="Shape 47"/>
          <p:cNvSpPr/>
          <p:nvPr/>
        </p:nvSpPr>
        <p:spPr>
          <a:xfrm>
            <a:off x="9692640" y="3749040"/>
            <a:ext cx="2011680" cy="2011680"/>
          </a:xfrm>
          <a:prstGeom prst="rect">
            <a:avLst>
              <a:gd name="adj" fmla="val 6818"/>
            </a:avLst>
          </a:prstGeom>
          <a:solidFill>
            <a:srgbClr val="FFFFFF"/>
          </a:solidFill>
          <a:ln/>
          <a:effectLst>
            <a:outerShdw sx="100000" sy="100000" kx="0" ky="0" algn="bl" rotWithShape="0" blurRad="50800" dist="25400" dir="16200000">
              <a:srgbClr val="00000015">
                <a:alpha val="75000"/>
              </a:srgbClr>
            </a:outerShdw>
          </a:effectLst>
        </p:spPr>
      </p:sp>
      <p:sp>
        <p:nvSpPr>
          <p:cNvPr id="50" name="Shape 48"/>
          <p:cNvSpPr/>
          <p:nvPr/>
        </p:nvSpPr>
        <p:spPr>
          <a:xfrm>
            <a:off x="10287000" y="4023360"/>
            <a:ext cx="822960" cy="822960"/>
          </a:xfrm>
          <a:prstGeom prst="ellipse">
            <a:avLst/>
          </a:prstGeom>
          <a:solidFill>
            <a:srgbClr val="E74C3C"/>
          </a:solidFill>
          <a:ln/>
        </p:spPr>
      </p:sp>
      <p:sp>
        <p:nvSpPr>
          <p:cNvPr id="51" name="Text 49"/>
          <p:cNvSpPr/>
          <p:nvPr/>
        </p:nvSpPr>
        <p:spPr>
          <a:xfrm>
            <a:off x="10287000" y="4023360"/>
            <a:ext cx="822960" cy="8229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S</a:t>
            </a:r>
            <a:endParaRPr lang="en-US" sz="2800" dirty="0"/>
          </a:p>
        </p:txBody>
      </p:sp>
      <p:sp>
        <p:nvSpPr>
          <p:cNvPr id="52" name="Text 50"/>
          <p:cNvSpPr/>
          <p:nvPr/>
        </p:nvSpPr>
        <p:spPr>
          <a:xfrm>
            <a:off x="9784080" y="4983480"/>
            <a:ext cx="1828800" cy="411480"/>
          </a:xfrm>
          <a:prstGeom prst="rect">
            <a:avLst/>
          </a:prstGeom>
          <a:noFill/>
          <a:ln/>
        </p:spPr>
        <p:txBody>
          <a:bodyPr wrap="square" rtlCol="0" anchor="ctr"/>
          <a:lstStyle/>
          <a:p>
            <a:pPr algn="ctr" indent="0" marL="0">
              <a:buNone/>
            </a:pPr>
            <a:r>
              <a:rPr lang="en-US" sz="1400" b="1" dirty="0">
                <a:solidFill>
                  <a:srgbClr val="1A2A33"/>
                </a:solidFill>
                <a:latin typeface="Calibri" pitchFamily="34" charset="0"/>
                <a:ea typeface="Calibri" pitchFamily="34" charset="-122"/>
                <a:cs typeface="Calibri" pitchFamily="34" charset="-120"/>
              </a:rPr>
              <a:t>Streamlit</a:t>
            </a:r>
            <a:endParaRPr lang="en-US" sz="1400" dirty="0"/>
          </a:p>
        </p:txBody>
      </p:sp>
      <p:sp>
        <p:nvSpPr>
          <p:cNvPr id="53" name="Text 51"/>
          <p:cNvSpPr/>
          <p:nvPr/>
        </p:nvSpPr>
        <p:spPr>
          <a:xfrm>
            <a:off x="9784080" y="5303520"/>
            <a:ext cx="1828800" cy="32004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Deployment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5"/>
        </a:solidFill>
      </p:bgPr>
    </p:bg>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0D2B3E"/>
          </a:solidFill>
          <a:ln/>
        </p:spPr>
      </p:sp>
      <p:sp>
        <p:nvSpPr>
          <p:cNvPr id="3" name="Text 1"/>
          <p:cNvSpPr/>
          <p:nvPr/>
        </p:nvSpPr>
        <p:spPr>
          <a:xfrm>
            <a:off x="731520" y="137160"/>
            <a:ext cx="9144000" cy="640080"/>
          </a:xfrm>
          <a:prstGeom prst="rect">
            <a:avLst/>
          </a:prstGeom>
          <a:noFill/>
          <a:ln/>
        </p:spPr>
        <p:txBody>
          <a:bodyPr wrap="square" rtlCol="0" anchor="ctr"/>
          <a:lstStyle/>
          <a:p>
            <a:pPr indent="0" marL="0">
              <a:buNone/>
            </a:pPr>
            <a:r>
              <a:rPr lang="en-US" sz="3000" b="1" dirty="0">
                <a:solidFill>
                  <a:srgbClr val="F4A825"/>
                </a:solidFill>
                <a:latin typeface="Georgia" pitchFamily="34" charset="0"/>
                <a:ea typeface="Georgia" pitchFamily="34" charset="-122"/>
                <a:cs typeface="Georgia" pitchFamily="34" charset="-120"/>
              </a:rPr>
              <a:t>Detailed Tools Explanation (1/2)</a:t>
            </a:r>
            <a:endParaRPr lang="en-US" sz="3000" dirty="0"/>
          </a:p>
        </p:txBody>
      </p:sp>
      <p:sp>
        <p:nvSpPr>
          <p:cNvPr id="4" name="Shape 2"/>
          <p:cNvSpPr/>
          <p:nvPr/>
        </p:nvSpPr>
        <p:spPr>
          <a:xfrm>
            <a:off x="731520" y="1188720"/>
            <a:ext cx="10515600" cy="1097280"/>
          </a:xfrm>
          <a:prstGeom prst="rect">
            <a:avLst>
              <a:gd name="adj" fmla="val 10000"/>
            </a:avLst>
          </a:prstGeom>
          <a:solidFill>
            <a:srgbClr val="FFFFFF"/>
          </a:solidFill>
          <a:ln/>
          <a:effectLst>
            <a:outerShdw sx="100000" sy="100000" kx="0" ky="0" algn="bl" rotWithShape="0" blurRad="50800" dist="25400" dir="16200000">
              <a:srgbClr val="00000012">
                <a:alpha val="75000"/>
              </a:srgbClr>
            </a:outerShdw>
          </a:effectLst>
        </p:spPr>
      </p:sp>
      <p:sp>
        <p:nvSpPr>
          <p:cNvPr id="5" name="Shape 3"/>
          <p:cNvSpPr/>
          <p:nvPr/>
        </p:nvSpPr>
        <p:spPr>
          <a:xfrm>
            <a:off x="731520" y="1188720"/>
            <a:ext cx="73152" cy="1097280"/>
          </a:xfrm>
          <a:prstGeom prst="rect">
            <a:avLst/>
          </a:prstGeom>
          <a:solidFill>
            <a:srgbClr val="F4A825"/>
          </a:solidFill>
          <a:ln/>
        </p:spPr>
      </p:sp>
      <p:sp>
        <p:nvSpPr>
          <p:cNvPr id="6" name="Text 4"/>
          <p:cNvSpPr/>
          <p:nvPr/>
        </p:nvSpPr>
        <p:spPr>
          <a:xfrm>
            <a:off x="1097280" y="1280160"/>
            <a:ext cx="9875520" cy="365760"/>
          </a:xfrm>
          <a:prstGeom prst="rect">
            <a:avLst/>
          </a:prstGeom>
          <a:noFill/>
          <a:ln/>
        </p:spPr>
        <p:txBody>
          <a:bodyPr wrap="square" rtlCol="0" anchor="ctr"/>
          <a:lstStyle/>
          <a:p>
            <a:pPr indent="0" marL="0">
              <a:buNone/>
            </a:pPr>
            <a:r>
              <a:rPr lang="en-US" sz="1600" b="1" dirty="0">
                <a:solidFill>
                  <a:srgbClr val="0E4D64"/>
                </a:solidFill>
                <a:latin typeface="Georgia" pitchFamily="34" charset="0"/>
                <a:ea typeface="Georgia" pitchFamily="34" charset="-122"/>
                <a:cs typeface="Georgia" pitchFamily="34" charset="-120"/>
              </a:rPr>
              <a:t>Python 3.x</a:t>
            </a:r>
            <a:endParaRPr lang="en-US" sz="1600" dirty="0"/>
          </a:p>
        </p:txBody>
      </p:sp>
      <p:sp>
        <p:nvSpPr>
          <p:cNvPr id="7" name="Text 5"/>
          <p:cNvSpPr/>
          <p:nvPr/>
        </p:nvSpPr>
        <p:spPr>
          <a:xfrm>
            <a:off x="1097280" y="1645920"/>
            <a:ext cx="9875520" cy="548640"/>
          </a:xfrm>
          <a:prstGeom prst="rect">
            <a:avLst/>
          </a:prstGeom>
          <a:noFill/>
          <a:ln/>
        </p:spPr>
        <p:txBody>
          <a:bodyPr wrap="square" rtlCol="0" anchor="ctr"/>
          <a:lstStyle/>
          <a:p>
            <a:pPr indent="0" marL="0">
              <a:lnSpc>
                <a:spcPct val="120000"/>
              </a:lnSpc>
              <a:buNone/>
            </a:pPr>
            <a:r>
              <a:rPr lang="en-US" sz="1250" dirty="0">
                <a:solidFill>
                  <a:srgbClr val="1A2A33"/>
                </a:solidFill>
                <a:latin typeface="Calibri" pitchFamily="34" charset="0"/>
                <a:ea typeface="Calibri" pitchFamily="34" charset="-122"/>
                <a:cs typeface="Calibri" pitchFamily="34" charset="-120"/>
              </a:rPr>
              <a:t>Primary programming language offering extensive ML/NLP libraries, clean syntax, and a rich ecosystem for data science. Handles data preprocessing, model training, and deployment.</a:t>
            </a:r>
            <a:endParaRPr lang="en-US" sz="1250" dirty="0"/>
          </a:p>
        </p:txBody>
      </p:sp>
      <p:sp>
        <p:nvSpPr>
          <p:cNvPr id="8" name="Shape 6"/>
          <p:cNvSpPr/>
          <p:nvPr/>
        </p:nvSpPr>
        <p:spPr>
          <a:xfrm>
            <a:off x="731520" y="2468880"/>
            <a:ext cx="10515600" cy="1097280"/>
          </a:xfrm>
          <a:prstGeom prst="rect">
            <a:avLst>
              <a:gd name="adj" fmla="val 10000"/>
            </a:avLst>
          </a:prstGeom>
          <a:solidFill>
            <a:srgbClr val="FFFFFF"/>
          </a:solidFill>
          <a:ln/>
          <a:effectLst>
            <a:outerShdw sx="100000" sy="100000" kx="0" ky="0" algn="bl" rotWithShape="0" blurRad="50800" dist="25400" dir="16200000">
              <a:srgbClr val="00000012">
                <a:alpha val="75000"/>
              </a:srgbClr>
            </a:outerShdw>
          </a:effectLst>
        </p:spPr>
      </p:sp>
      <p:sp>
        <p:nvSpPr>
          <p:cNvPr id="9" name="Shape 7"/>
          <p:cNvSpPr/>
          <p:nvPr/>
        </p:nvSpPr>
        <p:spPr>
          <a:xfrm>
            <a:off x="731520" y="2468880"/>
            <a:ext cx="73152" cy="1097280"/>
          </a:xfrm>
          <a:prstGeom prst="rect">
            <a:avLst/>
          </a:prstGeom>
          <a:solidFill>
            <a:srgbClr val="F4A825"/>
          </a:solidFill>
          <a:ln/>
        </p:spPr>
      </p:sp>
      <p:sp>
        <p:nvSpPr>
          <p:cNvPr id="10" name="Text 8"/>
          <p:cNvSpPr/>
          <p:nvPr/>
        </p:nvSpPr>
        <p:spPr>
          <a:xfrm>
            <a:off x="1097280" y="2560320"/>
            <a:ext cx="9875520" cy="365760"/>
          </a:xfrm>
          <a:prstGeom prst="rect">
            <a:avLst/>
          </a:prstGeom>
          <a:noFill/>
          <a:ln/>
        </p:spPr>
        <p:txBody>
          <a:bodyPr wrap="square" rtlCol="0" anchor="ctr"/>
          <a:lstStyle/>
          <a:p>
            <a:pPr indent="0" marL="0">
              <a:buNone/>
            </a:pPr>
            <a:r>
              <a:rPr lang="en-US" sz="1600" b="1" dirty="0">
                <a:solidFill>
                  <a:srgbClr val="0E4D64"/>
                </a:solidFill>
                <a:latin typeface="Georgia" pitchFamily="34" charset="0"/>
                <a:ea typeface="Georgia" pitchFamily="34" charset="-122"/>
                <a:cs typeface="Georgia" pitchFamily="34" charset="-120"/>
              </a:rPr>
              <a:t>Scikit-learn</a:t>
            </a:r>
            <a:endParaRPr lang="en-US" sz="1600" dirty="0"/>
          </a:p>
        </p:txBody>
      </p:sp>
      <p:sp>
        <p:nvSpPr>
          <p:cNvPr id="11" name="Text 9"/>
          <p:cNvSpPr/>
          <p:nvPr/>
        </p:nvSpPr>
        <p:spPr>
          <a:xfrm>
            <a:off x="1097280" y="2926080"/>
            <a:ext cx="9875520" cy="548640"/>
          </a:xfrm>
          <a:prstGeom prst="rect">
            <a:avLst/>
          </a:prstGeom>
          <a:noFill/>
          <a:ln/>
        </p:spPr>
        <p:txBody>
          <a:bodyPr wrap="square" rtlCol="0" anchor="ctr"/>
          <a:lstStyle/>
          <a:p>
            <a:pPr indent="0" marL="0">
              <a:lnSpc>
                <a:spcPct val="120000"/>
              </a:lnSpc>
              <a:buNone/>
            </a:pPr>
            <a:r>
              <a:rPr lang="en-US" sz="1250" dirty="0">
                <a:solidFill>
                  <a:srgbClr val="1A2A33"/>
                </a:solidFill>
                <a:latin typeface="Calibri" pitchFamily="34" charset="0"/>
                <a:ea typeface="Calibri" pitchFamily="34" charset="-122"/>
                <a:cs typeface="Calibri" pitchFamily="34" charset="-120"/>
              </a:rPr>
              <a:t>Comprehensive ML library providing classification algorithms (KNN, SVM, Random Forest, Naive Bayes), model evaluation metrics, train-test splitting, and pipeline construction.</a:t>
            </a:r>
            <a:endParaRPr lang="en-US" sz="1250" dirty="0"/>
          </a:p>
        </p:txBody>
      </p:sp>
      <p:sp>
        <p:nvSpPr>
          <p:cNvPr id="12" name="Shape 10"/>
          <p:cNvSpPr/>
          <p:nvPr/>
        </p:nvSpPr>
        <p:spPr>
          <a:xfrm>
            <a:off x="731520" y="3749040"/>
            <a:ext cx="10515600" cy="1097280"/>
          </a:xfrm>
          <a:prstGeom prst="rect">
            <a:avLst>
              <a:gd name="adj" fmla="val 10000"/>
            </a:avLst>
          </a:prstGeom>
          <a:solidFill>
            <a:srgbClr val="FFFFFF"/>
          </a:solidFill>
          <a:ln/>
          <a:effectLst>
            <a:outerShdw sx="100000" sy="100000" kx="0" ky="0" algn="bl" rotWithShape="0" blurRad="50800" dist="25400" dir="16200000">
              <a:srgbClr val="00000012">
                <a:alpha val="75000"/>
              </a:srgbClr>
            </a:outerShdw>
          </a:effectLst>
        </p:spPr>
      </p:sp>
      <p:sp>
        <p:nvSpPr>
          <p:cNvPr id="13" name="Shape 11"/>
          <p:cNvSpPr/>
          <p:nvPr/>
        </p:nvSpPr>
        <p:spPr>
          <a:xfrm>
            <a:off x="731520" y="3749040"/>
            <a:ext cx="73152" cy="1097280"/>
          </a:xfrm>
          <a:prstGeom prst="rect">
            <a:avLst/>
          </a:prstGeom>
          <a:solidFill>
            <a:srgbClr val="F4A825"/>
          </a:solidFill>
          <a:ln/>
        </p:spPr>
      </p:sp>
      <p:sp>
        <p:nvSpPr>
          <p:cNvPr id="14" name="Text 12"/>
          <p:cNvSpPr/>
          <p:nvPr/>
        </p:nvSpPr>
        <p:spPr>
          <a:xfrm>
            <a:off x="1097280" y="3840480"/>
            <a:ext cx="9875520" cy="365760"/>
          </a:xfrm>
          <a:prstGeom prst="rect">
            <a:avLst/>
          </a:prstGeom>
          <a:noFill/>
          <a:ln/>
        </p:spPr>
        <p:txBody>
          <a:bodyPr wrap="square" rtlCol="0" anchor="ctr"/>
          <a:lstStyle/>
          <a:p>
            <a:pPr indent="0" marL="0">
              <a:buNone/>
            </a:pPr>
            <a:r>
              <a:rPr lang="en-US" sz="1600" b="1" dirty="0">
                <a:solidFill>
                  <a:srgbClr val="0E4D64"/>
                </a:solidFill>
                <a:latin typeface="Georgia" pitchFamily="34" charset="0"/>
                <a:ea typeface="Georgia" pitchFamily="34" charset="-122"/>
                <a:cs typeface="Georgia" pitchFamily="34" charset="-120"/>
              </a:rPr>
              <a:t>NLTK (Natural Language Toolkit)</a:t>
            </a:r>
            <a:endParaRPr lang="en-US" sz="1600" dirty="0"/>
          </a:p>
        </p:txBody>
      </p:sp>
      <p:sp>
        <p:nvSpPr>
          <p:cNvPr id="15" name="Text 13"/>
          <p:cNvSpPr/>
          <p:nvPr/>
        </p:nvSpPr>
        <p:spPr>
          <a:xfrm>
            <a:off x="1097280" y="4206240"/>
            <a:ext cx="9875520" cy="548640"/>
          </a:xfrm>
          <a:prstGeom prst="rect">
            <a:avLst/>
          </a:prstGeom>
          <a:noFill/>
          <a:ln/>
        </p:spPr>
        <p:txBody>
          <a:bodyPr wrap="square" rtlCol="0" anchor="ctr"/>
          <a:lstStyle/>
          <a:p>
            <a:pPr indent="0" marL="0">
              <a:lnSpc>
                <a:spcPct val="120000"/>
              </a:lnSpc>
              <a:buNone/>
            </a:pPr>
            <a:r>
              <a:rPr lang="en-US" sz="1250" dirty="0">
                <a:solidFill>
                  <a:srgbClr val="1A2A33"/>
                </a:solidFill>
                <a:latin typeface="Calibri" pitchFamily="34" charset="0"/>
                <a:ea typeface="Calibri" pitchFamily="34" charset="-122"/>
                <a:cs typeface="Calibri" pitchFamily="34" charset="-120"/>
              </a:rPr>
              <a:t>NLP library used for tokenization, stopword removal, stemming, and lemmatization. Transforms raw resume text into clean, processable tokens for feature extraction.</a:t>
            </a:r>
            <a:endParaRPr lang="en-US" sz="1250" dirty="0"/>
          </a:p>
        </p:txBody>
      </p:sp>
      <p:sp>
        <p:nvSpPr>
          <p:cNvPr id="16" name="Shape 14"/>
          <p:cNvSpPr/>
          <p:nvPr/>
        </p:nvSpPr>
        <p:spPr>
          <a:xfrm>
            <a:off x="731520" y="5029200"/>
            <a:ext cx="10515600" cy="1097280"/>
          </a:xfrm>
          <a:prstGeom prst="rect">
            <a:avLst>
              <a:gd name="adj" fmla="val 10000"/>
            </a:avLst>
          </a:prstGeom>
          <a:solidFill>
            <a:srgbClr val="FFFFFF"/>
          </a:solidFill>
          <a:ln/>
          <a:effectLst>
            <a:outerShdw sx="100000" sy="100000" kx="0" ky="0" algn="bl" rotWithShape="0" blurRad="50800" dist="25400" dir="16200000">
              <a:srgbClr val="00000012">
                <a:alpha val="75000"/>
              </a:srgbClr>
            </a:outerShdw>
          </a:effectLst>
        </p:spPr>
      </p:sp>
      <p:sp>
        <p:nvSpPr>
          <p:cNvPr id="17" name="Shape 15"/>
          <p:cNvSpPr/>
          <p:nvPr/>
        </p:nvSpPr>
        <p:spPr>
          <a:xfrm>
            <a:off x="731520" y="5029200"/>
            <a:ext cx="73152" cy="1097280"/>
          </a:xfrm>
          <a:prstGeom prst="rect">
            <a:avLst/>
          </a:prstGeom>
          <a:solidFill>
            <a:srgbClr val="F4A825"/>
          </a:solidFill>
          <a:ln/>
        </p:spPr>
      </p:sp>
      <p:sp>
        <p:nvSpPr>
          <p:cNvPr id="18" name="Text 16"/>
          <p:cNvSpPr/>
          <p:nvPr/>
        </p:nvSpPr>
        <p:spPr>
          <a:xfrm>
            <a:off x="1097280" y="5120640"/>
            <a:ext cx="9875520" cy="365760"/>
          </a:xfrm>
          <a:prstGeom prst="rect">
            <a:avLst/>
          </a:prstGeom>
          <a:noFill/>
          <a:ln/>
        </p:spPr>
        <p:txBody>
          <a:bodyPr wrap="square" rtlCol="0" anchor="ctr"/>
          <a:lstStyle/>
          <a:p>
            <a:pPr indent="0" marL="0">
              <a:buNone/>
            </a:pPr>
            <a:r>
              <a:rPr lang="en-US" sz="1600" b="1" dirty="0">
                <a:solidFill>
                  <a:srgbClr val="0E4D64"/>
                </a:solidFill>
                <a:latin typeface="Georgia" pitchFamily="34" charset="0"/>
                <a:ea typeface="Georgia" pitchFamily="34" charset="-122"/>
                <a:cs typeface="Georgia" pitchFamily="34" charset="-120"/>
              </a:rPr>
              <a:t>TF-IDF Vectorizer</a:t>
            </a:r>
            <a:endParaRPr lang="en-US" sz="1600" dirty="0"/>
          </a:p>
        </p:txBody>
      </p:sp>
      <p:sp>
        <p:nvSpPr>
          <p:cNvPr id="19" name="Text 17"/>
          <p:cNvSpPr/>
          <p:nvPr/>
        </p:nvSpPr>
        <p:spPr>
          <a:xfrm>
            <a:off x="1097280" y="5486400"/>
            <a:ext cx="9875520" cy="548640"/>
          </a:xfrm>
          <a:prstGeom prst="rect">
            <a:avLst/>
          </a:prstGeom>
          <a:noFill/>
          <a:ln/>
        </p:spPr>
        <p:txBody>
          <a:bodyPr wrap="square" rtlCol="0" anchor="ctr"/>
          <a:lstStyle/>
          <a:p>
            <a:pPr indent="0" marL="0">
              <a:lnSpc>
                <a:spcPct val="120000"/>
              </a:lnSpc>
              <a:buNone/>
            </a:pPr>
            <a:r>
              <a:rPr lang="en-US" sz="1250" dirty="0">
                <a:solidFill>
                  <a:srgbClr val="1A2A33"/>
                </a:solidFill>
                <a:latin typeface="Calibri" pitchFamily="34" charset="0"/>
                <a:ea typeface="Calibri" pitchFamily="34" charset="-122"/>
                <a:cs typeface="Calibri" pitchFamily="34" charset="-120"/>
              </a:rPr>
              <a:t>Term Frequency-Inverse Document Frequency converts text documents into numerical feature vectors. Assigns higher weights to terms that are important within a document but rare across the corpus.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5"/>
        </a:solidFill>
      </p:bgPr>
    </p:bg>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0D2B3E"/>
          </a:solidFill>
          <a:ln/>
        </p:spPr>
      </p:sp>
      <p:sp>
        <p:nvSpPr>
          <p:cNvPr id="3" name="Text 1"/>
          <p:cNvSpPr/>
          <p:nvPr/>
        </p:nvSpPr>
        <p:spPr>
          <a:xfrm>
            <a:off x="731520" y="137160"/>
            <a:ext cx="9144000" cy="640080"/>
          </a:xfrm>
          <a:prstGeom prst="rect">
            <a:avLst/>
          </a:prstGeom>
          <a:noFill/>
          <a:ln/>
        </p:spPr>
        <p:txBody>
          <a:bodyPr wrap="square" rtlCol="0" anchor="ctr"/>
          <a:lstStyle/>
          <a:p>
            <a:pPr indent="0" marL="0">
              <a:buNone/>
            </a:pPr>
            <a:r>
              <a:rPr lang="en-US" sz="3000" b="1" dirty="0">
                <a:solidFill>
                  <a:srgbClr val="F4A825"/>
                </a:solidFill>
                <a:latin typeface="Georgia" pitchFamily="34" charset="0"/>
                <a:ea typeface="Georgia" pitchFamily="34" charset="-122"/>
                <a:cs typeface="Georgia" pitchFamily="34" charset="-120"/>
              </a:rPr>
              <a:t>Detailed Tools Explanation (2/2)</a:t>
            </a:r>
            <a:endParaRPr lang="en-US" sz="3000" dirty="0"/>
          </a:p>
        </p:txBody>
      </p:sp>
      <p:sp>
        <p:nvSpPr>
          <p:cNvPr id="4" name="Shape 2"/>
          <p:cNvSpPr/>
          <p:nvPr/>
        </p:nvSpPr>
        <p:spPr>
          <a:xfrm>
            <a:off x="731520" y="1188720"/>
            <a:ext cx="10515600" cy="1097280"/>
          </a:xfrm>
          <a:prstGeom prst="rect">
            <a:avLst>
              <a:gd name="adj" fmla="val 10000"/>
            </a:avLst>
          </a:prstGeom>
          <a:solidFill>
            <a:srgbClr val="FFFFFF"/>
          </a:solidFill>
          <a:ln/>
          <a:effectLst>
            <a:outerShdw sx="100000" sy="100000" kx="0" ky="0" algn="bl" rotWithShape="0" blurRad="50800" dist="25400" dir="16200000">
              <a:srgbClr val="00000012">
                <a:alpha val="75000"/>
              </a:srgbClr>
            </a:outerShdw>
          </a:effectLst>
        </p:spPr>
      </p:sp>
      <p:sp>
        <p:nvSpPr>
          <p:cNvPr id="5" name="Shape 3"/>
          <p:cNvSpPr/>
          <p:nvPr/>
        </p:nvSpPr>
        <p:spPr>
          <a:xfrm>
            <a:off x="731520" y="1188720"/>
            <a:ext cx="73152" cy="1097280"/>
          </a:xfrm>
          <a:prstGeom prst="rect">
            <a:avLst/>
          </a:prstGeom>
          <a:solidFill>
            <a:srgbClr val="F4A825"/>
          </a:solidFill>
          <a:ln/>
        </p:spPr>
      </p:sp>
      <p:sp>
        <p:nvSpPr>
          <p:cNvPr id="6" name="Text 4"/>
          <p:cNvSpPr/>
          <p:nvPr/>
        </p:nvSpPr>
        <p:spPr>
          <a:xfrm>
            <a:off x="1097280" y="1280160"/>
            <a:ext cx="9875520" cy="365760"/>
          </a:xfrm>
          <a:prstGeom prst="rect">
            <a:avLst/>
          </a:prstGeom>
          <a:noFill/>
          <a:ln/>
        </p:spPr>
        <p:txBody>
          <a:bodyPr wrap="square" rtlCol="0" anchor="ctr"/>
          <a:lstStyle/>
          <a:p>
            <a:pPr indent="0" marL="0">
              <a:buNone/>
            </a:pPr>
            <a:r>
              <a:rPr lang="en-US" sz="1600" b="1" dirty="0">
                <a:solidFill>
                  <a:srgbClr val="0E4D64"/>
                </a:solidFill>
                <a:latin typeface="Georgia" pitchFamily="34" charset="0"/>
                <a:ea typeface="Georgia" pitchFamily="34" charset="-122"/>
                <a:cs typeface="Georgia" pitchFamily="34" charset="-120"/>
              </a:rPr>
              <a:t>Pandas &amp; NumPy</a:t>
            </a:r>
            <a:endParaRPr lang="en-US" sz="1600" dirty="0"/>
          </a:p>
        </p:txBody>
      </p:sp>
      <p:sp>
        <p:nvSpPr>
          <p:cNvPr id="7" name="Text 5"/>
          <p:cNvSpPr/>
          <p:nvPr/>
        </p:nvSpPr>
        <p:spPr>
          <a:xfrm>
            <a:off x="1097280" y="1645920"/>
            <a:ext cx="9875520" cy="548640"/>
          </a:xfrm>
          <a:prstGeom prst="rect">
            <a:avLst/>
          </a:prstGeom>
          <a:noFill/>
          <a:ln/>
        </p:spPr>
        <p:txBody>
          <a:bodyPr wrap="square" rtlCol="0" anchor="ctr"/>
          <a:lstStyle/>
          <a:p>
            <a:pPr indent="0" marL="0">
              <a:lnSpc>
                <a:spcPct val="120000"/>
              </a:lnSpc>
              <a:buNone/>
            </a:pPr>
            <a:r>
              <a:rPr lang="en-US" sz="1250" dirty="0">
                <a:solidFill>
                  <a:srgbClr val="1A2A33"/>
                </a:solidFill>
                <a:latin typeface="Calibri" pitchFamily="34" charset="0"/>
                <a:ea typeface="Calibri" pitchFamily="34" charset="-122"/>
                <a:cs typeface="Calibri" pitchFamily="34" charset="-120"/>
              </a:rPr>
              <a:t>Pandas provides DataFrame structures for loading, cleaning, and transforming resume datasets. NumPy enables efficient numerical operations on arrays and matrices used in ML computations.</a:t>
            </a:r>
            <a:endParaRPr lang="en-US" sz="1250" dirty="0"/>
          </a:p>
        </p:txBody>
      </p:sp>
      <p:sp>
        <p:nvSpPr>
          <p:cNvPr id="8" name="Shape 6"/>
          <p:cNvSpPr/>
          <p:nvPr/>
        </p:nvSpPr>
        <p:spPr>
          <a:xfrm>
            <a:off x="731520" y="2468880"/>
            <a:ext cx="10515600" cy="1097280"/>
          </a:xfrm>
          <a:prstGeom prst="rect">
            <a:avLst>
              <a:gd name="adj" fmla="val 10000"/>
            </a:avLst>
          </a:prstGeom>
          <a:solidFill>
            <a:srgbClr val="FFFFFF"/>
          </a:solidFill>
          <a:ln/>
          <a:effectLst>
            <a:outerShdw sx="100000" sy="100000" kx="0" ky="0" algn="bl" rotWithShape="0" blurRad="50800" dist="25400" dir="16200000">
              <a:srgbClr val="00000012">
                <a:alpha val="75000"/>
              </a:srgbClr>
            </a:outerShdw>
          </a:effectLst>
        </p:spPr>
      </p:sp>
      <p:sp>
        <p:nvSpPr>
          <p:cNvPr id="9" name="Shape 7"/>
          <p:cNvSpPr/>
          <p:nvPr/>
        </p:nvSpPr>
        <p:spPr>
          <a:xfrm>
            <a:off x="731520" y="2468880"/>
            <a:ext cx="73152" cy="1097280"/>
          </a:xfrm>
          <a:prstGeom prst="rect">
            <a:avLst/>
          </a:prstGeom>
          <a:solidFill>
            <a:srgbClr val="F4A825"/>
          </a:solidFill>
          <a:ln/>
        </p:spPr>
      </p:sp>
      <p:sp>
        <p:nvSpPr>
          <p:cNvPr id="10" name="Text 8"/>
          <p:cNvSpPr/>
          <p:nvPr/>
        </p:nvSpPr>
        <p:spPr>
          <a:xfrm>
            <a:off x="1097280" y="2560320"/>
            <a:ext cx="9875520" cy="365760"/>
          </a:xfrm>
          <a:prstGeom prst="rect">
            <a:avLst/>
          </a:prstGeom>
          <a:noFill/>
          <a:ln/>
        </p:spPr>
        <p:txBody>
          <a:bodyPr wrap="square" rtlCol="0" anchor="ctr"/>
          <a:lstStyle/>
          <a:p>
            <a:pPr indent="0" marL="0">
              <a:buNone/>
            </a:pPr>
            <a:r>
              <a:rPr lang="en-US" sz="1600" b="1" dirty="0">
                <a:solidFill>
                  <a:srgbClr val="0E4D64"/>
                </a:solidFill>
                <a:latin typeface="Georgia" pitchFamily="34" charset="0"/>
                <a:ea typeface="Georgia" pitchFamily="34" charset="-122"/>
                <a:cs typeface="Georgia" pitchFamily="34" charset="-120"/>
              </a:rPr>
              <a:t>Matplotlib &amp; Seaborn</a:t>
            </a:r>
            <a:endParaRPr lang="en-US" sz="1600" dirty="0"/>
          </a:p>
        </p:txBody>
      </p:sp>
      <p:sp>
        <p:nvSpPr>
          <p:cNvPr id="11" name="Text 9"/>
          <p:cNvSpPr/>
          <p:nvPr/>
        </p:nvSpPr>
        <p:spPr>
          <a:xfrm>
            <a:off x="1097280" y="2926080"/>
            <a:ext cx="9875520" cy="548640"/>
          </a:xfrm>
          <a:prstGeom prst="rect">
            <a:avLst/>
          </a:prstGeom>
          <a:noFill/>
          <a:ln/>
        </p:spPr>
        <p:txBody>
          <a:bodyPr wrap="square" rtlCol="0" anchor="ctr"/>
          <a:lstStyle/>
          <a:p>
            <a:pPr indent="0" marL="0">
              <a:lnSpc>
                <a:spcPct val="120000"/>
              </a:lnSpc>
              <a:buNone/>
            </a:pPr>
            <a:r>
              <a:rPr lang="en-US" sz="1250" dirty="0">
                <a:solidFill>
                  <a:srgbClr val="1A2A33"/>
                </a:solidFill>
                <a:latin typeface="Calibri" pitchFamily="34" charset="0"/>
                <a:ea typeface="Calibri" pitchFamily="34" charset="-122"/>
                <a:cs typeface="Calibri" pitchFamily="34" charset="-120"/>
              </a:rPr>
              <a:t>Visualization libraries for creating confusion matrices, accuracy comparison bar charts, class distribution plots, and model performance dashboards.</a:t>
            </a:r>
            <a:endParaRPr lang="en-US" sz="1250" dirty="0"/>
          </a:p>
        </p:txBody>
      </p:sp>
      <p:sp>
        <p:nvSpPr>
          <p:cNvPr id="12" name="Shape 10"/>
          <p:cNvSpPr/>
          <p:nvPr/>
        </p:nvSpPr>
        <p:spPr>
          <a:xfrm>
            <a:off x="731520" y="3749040"/>
            <a:ext cx="10515600" cy="1097280"/>
          </a:xfrm>
          <a:prstGeom prst="rect">
            <a:avLst>
              <a:gd name="adj" fmla="val 10000"/>
            </a:avLst>
          </a:prstGeom>
          <a:solidFill>
            <a:srgbClr val="FFFFFF"/>
          </a:solidFill>
          <a:ln/>
          <a:effectLst>
            <a:outerShdw sx="100000" sy="100000" kx="0" ky="0" algn="bl" rotWithShape="0" blurRad="50800" dist="25400" dir="16200000">
              <a:srgbClr val="00000012">
                <a:alpha val="75000"/>
              </a:srgbClr>
            </a:outerShdw>
          </a:effectLst>
        </p:spPr>
      </p:sp>
      <p:sp>
        <p:nvSpPr>
          <p:cNvPr id="13" name="Shape 11"/>
          <p:cNvSpPr/>
          <p:nvPr/>
        </p:nvSpPr>
        <p:spPr>
          <a:xfrm>
            <a:off x="731520" y="3749040"/>
            <a:ext cx="73152" cy="1097280"/>
          </a:xfrm>
          <a:prstGeom prst="rect">
            <a:avLst/>
          </a:prstGeom>
          <a:solidFill>
            <a:srgbClr val="F4A825"/>
          </a:solidFill>
          <a:ln/>
        </p:spPr>
      </p:sp>
      <p:sp>
        <p:nvSpPr>
          <p:cNvPr id="14" name="Text 12"/>
          <p:cNvSpPr/>
          <p:nvPr/>
        </p:nvSpPr>
        <p:spPr>
          <a:xfrm>
            <a:off x="1097280" y="3840480"/>
            <a:ext cx="9875520" cy="365760"/>
          </a:xfrm>
          <a:prstGeom prst="rect">
            <a:avLst/>
          </a:prstGeom>
          <a:noFill/>
          <a:ln/>
        </p:spPr>
        <p:txBody>
          <a:bodyPr wrap="square" rtlCol="0" anchor="ctr"/>
          <a:lstStyle/>
          <a:p>
            <a:pPr indent="0" marL="0">
              <a:buNone/>
            </a:pPr>
            <a:r>
              <a:rPr lang="en-US" sz="1600" b="1" dirty="0">
                <a:solidFill>
                  <a:srgbClr val="0E4D64"/>
                </a:solidFill>
                <a:latin typeface="Georgia" pitchFamily="34" charset="0"/>
                <a:ea typeface="Georgia" pitchFamily="34" charset="-122"/>
                <a:cs typeface="Georgia" pitchFamily="34" charset="-120"/>
              </a:rPr>
              <a:t>Jupyter Notebook</a:t>
            </a:r>
            <a:endParaRPr lang="en-US" sz="1600" dirty="0"/>
          </a:p>
        </p:txBody>
      </p:sp>
      <p:sp>
        <p:nvSpPr>
          <p:cNvPr id="15" name="Text 13"/>
          <p:cNvSpPr/>
          <p:nvPr/>
        </p:nvSpPr>
        <p:spPr>
          <a:xfrm>
            <a:off x="1097280" y="4206240"/>
            <a:ext cx="9875520" cy="548640"/>
          </a:xfrm>
          <a:prstGeom prst="rect">
            <a:avLst/>
          </a:prstGeom>
          <a:noFill/>
          <a:ln/>
        </p:spPr>
        <p:txBody>
          <a:bodyPr wrap="square" rtlCol="0" anchor="ctr"/>
          <a:lstStyle/>
          <a:p>
            <a:pPr indent="0" marL="0">
              <a:lnSpc>
                <a:spcPct val="120000"/>
              </a:lnSpc>
              <a:buNone/>
            </a:pPr>
            <a:r>
              <a:rPr lang="en-US" sz="1250" dirty="0">
                <a:solidFill>
                  <a:srgbClr val="1A2A33"/>
                </a:solidFill>
                <a:latin typeface="Calibri" pitchFamily="34" charset="0"/>
                <a:ea typeface="Calibri" pitchFamily="34" charset="-122"/>
                <a:cs typeface="Calibri" pitchFamily="34" charset="-120"/>
              </a:rPr>
              <a:t>Interactive development environment for iterative model development, visualization, and documentation. Allows step-by-step execution and inline result viewing.</a:t>
            </a:r>
            <a:endParaRPr lang="en-US" sz="1250" dirty="0"/>
          </a:p>
        </p:txBody>
      </p:sp>
      <p:sp>
        <p:nvSpPr>
          <p:cNvPr id="16" name="Shape 14"/>
          <p:cNvSpPr/>
          <p:nvPr/>
        </p:nvSpPr>
        <p:spPr>
          <a:xfrm>
            <a:off x="731520" y="5029200"/>
            <a:ext cx="10515600" cy="1097280"/>
          </a:xfrm>
          <a:prstGeom prst="rect">
            <a:avLst>
              <a:gd name="adj" fmla="val 10000"/>
            </a:avLst>
          </a:prstGeom>
          <a:solidFill>
            <a:srgbClr val="FFFFFF"/>
          </a:solidFill>
          <a:ln/>
          <a:effectLst>
            <a:outerShdw sx="100000" sy="100000" kx="0" ky="0" algn="bl" rotWithShape="0" blurRad="50800" dist="25400" dir="16200000">
              <a:srgbClr val="00000012">
                <a:alpha val="75000"/>
              </a:srgbClr>
            </a:outerShdw>
          </a:effectLst>
        </p:spPr>
      </p:sp>
      <p:sp>
        <p:nvSpPr>
          <p:cNvPr id="17" name="Shape 15"/>
          <p:cNvSpPr/>
          <p:nvPr/>
        </p:nvSpPr>
        <p:spPr>
          <a:xfrm>
            <a:off x="731520" y="5029200"/>
            <a:ext cx="73152" cy="1097280"/>
          </a:xfrm>
          <a:prstGeom prst="rect">
            <a:avLst/>
          </a:prstGeom>
          <a:solidFill>
            <a:srgbClr val="F4A825"/>
          </a:solidFill>
          <a:ln/>
        </p:spPr>
      </p:sp>
      <p:sp>
        <p:nvSpPr>
          <p:cNvPr id="18" name="Text 16"/>
          <p:cNvSpPr/>
          <p:nvPr/>
        </p:nvSpPr>
        <p:spPr>
          <a:xfrm>
            <a:off x="1097280" y="5120640"/>
            <a:ext cx="9875520" cy="365760"/>
          </a:xfrm>
          <a:prstGeom prst="rect">
            <a:avLst/>
          </a:prstGeom>
          <a:noFill/>
          <a:ln/>
        </p:spPr>
        <p:txBody>
          <a:bodyPr wrap="square" rtlCol="0" anchor="ctr"/>
          <a:lstStyle/>
          <a:p>
            <a:pPr indent="0" marL="0">
              <a:buNone/>
            </a:pPr>
            <a:r>
              <a:rPr lang="en-US" sz="1600" b="1" dirty="0">
                <a:solidFill>
                  <a:srgbClr val="0E4D64"/>
                </a:solidFill>
                <a:latin typeface="Georgia" pitchFamily="34" charset="0"/>
                <a:ea typeface="Georgia" pitchFamily="34" charset="-122"/>
                <a:cs typeface="Georgia" pitchFamily="34" charset="-120"/>
              </a:rPr>
              <a:t>Streamlit</a:t>
            </a:r>
            <a:endParaRPr lang="en-US" sz="1600" dirty="0"/>
          </a:p>
        </p:txBody>
      </p:sp>
      <p:sp>
        <p:nvSpPr>
          <p:cNvPr id="19" name="Text 17"/>
          <p:cNvSpPr/>
          <p:nvPr/>
        </p:nvSpPr>
        <p:spPr>
          <a:xfrm>
            <a:off x="1097280" y="5486400"/>
            <a:ext cx="9875520" cy="548640"/>
          </a:xfrm>
          <a:prstGeom prst="rect">
            <a:avLst/>
          </a:prstGeom>
          <a:noFill/>
          <a:ln/>
        </p:spPr>
        <p:txBody>
          <a:bodyPr wrap="square" rtlCol="0" anchor="ctr"/>
          <a:lstStyle/>
          <a:p>
            <a:pPr indent="0" marL="0">
              <a:lnSpc>
                <a:spcPct val="120000"/>
              </a:lnSpc>
              <a:buNone/>
            </a:pPr>
            <a:r>
              <a:rPr lang="en-US" sz="1250" dirty="0">
                <a:solidFill>
                  <a:srgbClr val="1A2A33"/>
                </a:solidFill>
                <a:latin typeface="Calibri" pitchFamily="34" charset="0"/>
                <a:ea typeface="Calibri" pitchFamily="34" charset="-122"/>
                <a:cs typeface="Calibri" pitchFamily="34" charset="-120"/>
              </a:rPr>
              <a:t>Web application framework for deploying the trained model as an interactive UI. Allows users to upload resumes and get instant category predictions with confidence scores.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B3E"/>
        </a:solidFill>
      </p:bgPr>
    </p:bg>
    <p:spTree>
      <p:nvGrpSpPr>
        <p:cNvPr id="1" name=""/>
        <p:cNvGrpSpPr/>
        <p:nvPr/>
      </p:nvGrpSpPr>
      <p:grpSpPr>
        <a:xfrm>
          <a:off x="0" y="0"/>
          <a:ext cx="0" cy="0"/>
          <a:chOff x="0" y="0"/>
          <a:chExt cx="0" cy="0"/>
        </a:xfrm>
      </p:grpSpPr>
      <p:sp>
        <p:nvSpPr>
          <p:cNvPr id="2" name="Text 0"/>
          <p:cNvSpPr/>
          <p:nvPr/>
        </p:nvSpPr>
        <p:spPr>
          <a:xfrm>
            <a:off x="731520" y="274320"/>
            <a:ext cx="7315200" cy="731520"/>
          </a:xfrm>
          <a:prstGeom prst="rect">
            <a:avLst/>
          </a:prstGeom>
          <a:noFill/>
          <a:ln/>
        </p:spPr>
        <p:txBody>
          <a:bodyPr wrap="square" rtlCol="0" anchor="ctr"/>
          <a:lstStyle/>
          <a:p>
            <a:pPr indent="0" marL="0">
              <a:buNone/>
            </a:pPr>
            <a:r>
              <a:rPr lang="en-US" sz="3200" b="1" dirty="0">
                <a:solidFill>
                  <a:srgbClr val="F4A825"/>
                </a:solidFill>
                <a:latin typeface="Georgia" pitchFamily="34" charset="0"/>
                <a:ea typeface="Georgia" pitchFamily="34" charset="-122"/>
                <a:cs typeface="Georgia" pitchFamily="34" charset="-120"/>
              </a:rPr>
              <a:t>Methodology Flowchart</a:t>
            </a:r>
            <a:endParaRPr lang="en-US" sz="3200" dirty="0"/>
          </a:p>
        </p:txBody>
      </p:sp>
      <p:sp>
        <p:nvSpPr>
          <p:cNvPr id="3" name="Shape 1"/>
          <p:cNvSpPr/>
          <p:nvPr/>
        </p:nvSpPr>
        <p:spPr>
          <a:xfrm>
            <a:off x="731520" y="960120"/>
            <a:ext cx="2286000" cy="36576"/>
          </a:xfrm>
          <a:prstGeom prst="rect">
            <a:avLst/>
          </a:prstGeom>
          <a:solidFill>
            <a:srgbClr val="F4A825"/>
          </a:solidFill>
          <a:ln/>
        </p:spPr>
      </p:sp>
      <p:sp>
        <p:nvSpPr>
          <p:cNvPr id="4" name="Shape 2"/>
          <p:cNvSpPr/>
          <p:nvPr/>
        </p:nvSpPr>
        <p:spPr>
          <a:xfrm>
            <a:off x="548640" y="1463040"/>
            <a:ext cx="2468880" cy="1645920"/>
          </a:xfrm>
          <a:prstGeom prst="roundRect">
            <a:avLst>
              <a:gd name="adj" fmla="val 8333"/>
            </a:avLst>
          </a:prstGeom>
          <a:solidFill>
            <a:srgbClr val="0E4D64"/>
          </a:solidFill>
          <a:ln w="25400">
            <a:solidFill>
              <a:srgbClr val="3498DB"/>
            </a:solidFill>
            <a:prstDash val="solid"/>
          </a:ln>
        </p:spPr>
      </p:sp>
      <p:sp>
        <p:nvSpPr>
          <p:cNvPr id="5" name="Shape 3"/>
          <p:cNvSpPr/>
          <p:nvPr/>
        </p:nvSpPr>
        <p:spPr>
          <a:xfrm>
            <a:off x="1463040" y="1645920"/>
            <a:ext cx="640080" cy="640080"/>
          </a:xfrm>
          <a:prstGeom prst="ellipse">
            <a:avLst/>
          </a:prstGeom>
          <a:solidFill>
            <a:srgbClr val="3498DB"/>
          </a:solidFill>
          <a:ln/>
        </p:spPr>
      </p:sp>
      <p:sp>
        <p:nvSpPr>
          <p:cNvPr id="6" name="Text 4"/>
          <p:cNvSpPr/>
          <p:nvPr/>
        </p:nvSpPr>
        <p:spPr>
          <a:xfrm>
            <a:off x="1463040" y="164592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685800" y="2377440"/>
            <a:ext cx="21945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Data Collection</a:t>
            </a:r>
            <a:endParaRPr lang="en-US" sz="1400" dirty="0"/>
          </a:p>
        </p:txBody>
      </p:sp>
      <p:sp>
        <p:nvSpPr>
          <p:cNvPr id="8" name="Text 6"/>
          <p:cNvSpPr/>
          <p:nvPr/>
        </p:nvSpPr>
        <p:spPr>
          <a:xfrm>
            <a:off x="685800" y="2697480"/>
            <a:ext cx="2194560" cy="27432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Resume Dataset (CSV)</a:t>
            </a:r>
            <a:endParaRPr lang="en-US" sz="1100" dirty="0"/>
          </a:p>
        </p:txBody>
      </p:sp>
      <p:sp>
        <p:nvSpPr>
          <p:cNvPr id="9" name="Text 7"/>
          <p:cNvSpPr/>
          <p:nvPr/>
        </p:nvSpPr>
        <p:spPr>
          <a:xfrm>
            <a:off x="3017520" y="1920240"/>
            <a:ext cx="457200" cy="731520"/>
          </a:xfrm>
          <a:prstGeom prst="rect">
            <a:avLst/>
          </a:prstGeom>
          <a:noFill/>
          <a:ln/>
        </p:spPr>
        <p:txBody>
          <a:bodyPr wrap="square" rtlCol="0" anchor="ctr"/>
          <a:lstStyle/>
          <a:p>
            <a:pPr algn="ctr" indent="0" marL="0">
              <a:buNone/>
            </a:pPr>
            <a:r>
              <a:rPr lang="en-US" sz="2800" dirty="0">
                <a:solidFill>
                  <a:srgbClr val="F4A825"/>
                </a:solidFill>
              </a:rPr>
              <a:t>→</a:t>
            </a:r>
            <a:endParaRPr lang="en-US" sz="2800" dirty="0"/>
          </a:p>
        </p:txBody>
      </p:sp>
      <p:sp>
        <p:nvSpPr>
          <p:cNvPr id="10" name="Shape 8"/>
          <p:cNvSpPr/>
          <p:nvPr/>
        </p:nvSpPr>
        <p:spPr>
          <a:xfrm>
            <a:off x="3474720" y="1463040"/>
            <a:ext cx="2468880" cy="1645920"/>
          </a:xfrm>
          <a:prstGeom prst="roundRect">
            <a:avLst>
              <a:gd name="adj" fmla="val 8333"/>
            </a:avLst>
          </a:prstGeom>
          <a:solidFill>
            <a:srgbClr val="0E4D64"/>
          </a:solidFill>
          <a:ln w="25400">
            <a:solidFill>
              <a:srgbClr val="2ECC71"/>
            </a:solidFill>
            <a:prstDash val="solid"/>
          </a:ln>
        </p:spPr>
      </p:sp>
      <p:sp>
        <p:nvSpPr>
          <p:cNvPr id="11" name="Shape 9"/>
          <p:cNvSpPr/>
          <p:nvPr/>
        </p:nvSpPr>
        <p:spPr>
          <a:xfrm>
            <a:off x="4389120" y="1645920"/>
            <a:ext cx="640080" cy="640080"/>
          </a:xfrm>
          <a:prstGeom prst="ellipse">
            <a:avLst/>
          </a:prstGeom>
          <a:solidFill>
            <a:srgbClr val="2ECC71"/>
          </a:solidFill>
          <a:ln/>
        </p:spPr>
      </p:sp>
      <p:sp>
        <p:nvSpPr>
          <p:cNvPr id="12" name="Text 10"/>
          <p:cNvSpPr/>
          <p:nvPr/>
        </p:nvSpPr>
        <p:spPr>
          <a:xfrm>
            <a:off x="4389120" y="164592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3611880" y="2377440"/>
            <a:ext cx="21945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Text Preprocessing</a:t>
            </a:r>
            <a:endParaRPr lang="en-US" sz="1400" dirty="0"/>
          </a:p>
        </p:txBody>
      </p:sp>
      <p:sp>
        <p:nvSpPr>
          <p:cNvPr id="14" name="Text 12"/>
          <p:cNvSpPr/>
          <p:nvPr/>
        </p:nvSpPr>
        <p:spPr>
          <a:xfrm>
            <a:off x="3611880" y="2697480"/>
            <a:ext cx="2194560" cy="27432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Clean, Tokenize, Stem</a:t>
            </a:r>
            <a:endParaRPr lang="en-US" sz="1100" dirty="0"/>
          </a:p>
        </p:txBody>
      </p:sp>
      <p:sp>
        <p:nvSpPr>
          <p:cNvPr id="15" name="Text 13"/>
          <p:cNvSpPr/>
          <p:nvPr/>
        </p:nvSpPr>
        <p:spPr>
          <a:xfrm>
            <a:off x="5943600" y="1920240"/>
            <a:ext cx="457200" cy="731520"/>
          </a:xfrm>
          <a:prstGeom prst="rect">
            <a:avLst/>
          </a:prstGeom>
          <a:noFill/>
          <a:ln/>
        </p:spPr>
        <p:txBody>
          <a:bodyPr wrap="square" rtlCol="0" anchor="ctr"/>
          <a:lstStyle/>
          <a:p>
            <a:pPr algn="ctr" indent="0" marL="0">
              <a:buNone/>
            </a:pPr>
            <a:r>
              <a:rPr lang="en-US" sz="2800" dirty="0">
                <a:solidFill>
                  <a:srgbClr val="F4A825"/>
                </a:solidFill>
              </a:rPr>
              <a:t>→</a:t>
            </a:r>
            <a:endParaRPr lang="en-US" sz="2800" dirty="0"/>
          </a:p>
        </p:txBody>
      </p:sp>
      <p:sp>
        <p:nvSpPr>
          <p:cNvPr id="16" name="Shape 14"/>
          <p:cNvSpPr/>
          <p:nvPr/>
        </p:nvSpPr>
        <p:spPr>
          <a:xfrm>
            <a:off x="6400800" y="1463040"/>
            <a:ext cx="2468880" cy="1645920"/>
          </a:xfrm>
          <a:prstGeom prst="roundRect">
            <a:avLst>
              <a:gd name="adj" fmla="val 8333"/>
            </a:avLst>
          </a:prstGeom>
          <a:solidFill>
            <a:srgbClr val="0E4D64"/>
          </a:solidFill>
          <a:ln w="25400">
            <a:solidFill>
              <a:srgbClr val="F39C12"/>
            </a:solidFill>
            <a:prstDash val="solid"/>
          </a:ln>
        </p:spPr>
      </p:sp>
      <p:sp>
        <p:nvSpPr>
          <p:cNvPr id="17" name="Shape 15"/>
          <p:cNvSpPr/>
          <p:nvPr/>
        </p:nvSpPr>
        <p:spPr>
          <a:xfrm>
            <a:off x="7315200" y="1645920"/>
            <a:ext cx="640080" cy="640080"/>
          </a:xfrm>
          <a:prstGeom prst="ellipse">
            <a:avLst/>
          </a:prstGeom>
          <a:solidFill>
            <a:srgbClr val="F39C12"/>
          </a:solidFill>
          <a:ln/>
        </p:spPr>
      </p:sp>
      <p:sp>
        <p:nvSpPr>
          <p:cNvPr id="18" name="Text 16"/>
          <p:cNvSpPr/>
          <p:nvPr/>
        </p:nvSpPr>
        <p:spPr>
          <a:xfrm>
            <a:off x="7315200" y="164592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9" name="Text 17"/>
          <p:cNvSpPr/>
          <p:nvPr/>
        </p:nvSpPr>
        <p:spPr>
          <a:xfrm>
            <a:off x="6537960" y="2377440"/>
            <a:ext cx="21945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Feature Extraction</a:t>
            </a:r>
            <a:endParaRPr lang="en-US" sz="1400" dirty="0"/>
          </a:p>
        </p:txBody>
      </p:sp>
      <p:sp>
        <p:nvSpPr>
          <p:cNvPr id="20" name="Text 18"/>
          <p:cNvSpPr/>
          <p:nvPr/>
        </p:nvSpPr>
        <p:spPr>
          <a:xfrm>
            <a:off x="6537960" y="2697480"/>
            <a:ext cx="2194560" cy="27432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TF-IDF Vectorization</a:t>
            </a:r>
            <a:endParaRPr lang="en-US" sz="1100" dirty="0"/>
          </a:p>
        </p:txBody>
      </p:sp>
      <p:sp>
        <p:nvSpPr>
          <p:cNvPr id="21" name="Text 19"/>
          <p:cNvSpPr/>
          <p:nvPr/>
        </p:nvSpPr>
        <p:spPr>
          <a:xfrm>
            <a:off x="8869680" y="1920240"/>
            <a:ext cx="457200" cy="731520"/>
          </a:xfrm>
          <a:prstGeom prst="rect">
            <a:avLst/>
          </a:prstGeom>
          <a:noFill/>
          <a:ln/>
        </p:spPr>
        <p:txBody>
          <a:bodyPr wrap="square" rtlCol="0" anchor="ctr"/>
          <a:lstStyle/>
          <a:p>
            <a:pPr algn="ctr" indent="0" marL="0">
              <a:buNone/>
            </a:pPr>
            <a:r>
              <a:rPr lang="en-US" sz="2800" dirty="0">
                <a:solidFill>
                  <a:srgbClr val="F4A825"/>
                </a:solidFill>
              </a:rPr>
              <a:t>→</a:t>
            </a:r>
            <a:endParaRPr lang="en-US" sz="2800" dirty="0"/>
          </a:p>
        </p:txBody>
      </p:sp>
      <p:sp>
        <p:nvSpPr>
          <p:cNvPr id="22" name="Shape 20"/>
          <p:cNvSpPr/>
          <p:nvPr/>
        </p:nvSpPr>
        <p:spPr>
          <a:xfrm>
            <a:off x="9326880" y="1463040"/>
            <a:ext cx="2468880" cy="1645920"/>
          </a:xfrm>
          <a:prstGeom prst="roundRect">
            <a:avLst>
              <a:gd name="adj" fmla="val 8333"/>
            </a:avLst>
          </a:prstGeom>
          <a:solidFill>
            <a:srgbClr val="0E4D64"/>
          </a:solidFill>
          <a:ln w="25400">
            <a:solidFill>
              <a:srgbClr val="F4A825"/>
            </a:solidFill>
            <a:prstDash val="solid"/>
          </a:ln>
        </p:spPr>
      </p:sp>
      <p:sp>
        <p:nvSpPr>
          <p:cNvPr id="23" name="Shape 21"/>
          <p:cNvSpPr/>
          <p:nvPr/>
        </p:nvSpPr>
        <p:spPr>
          <a:xfrm>
            <a:off x="10241280" y="1645920"/>
            <a:ext cx="640080" cy="640080"/>
          </a:xfrm>
          <a:prstGeom prst="ellipse">
            <a:avLst/>
          </a:prstGeom>
          <a:solidFill>
            <a:srgbClr val="F4A825"/>
          </a:solidFill>
          <a:ln/>
        </p:spPr>
      </p:sp>
      <p:sp>
        <p:nvSpPr>
          <p:cNvPr id="24" name="Text 22"/>
          <p:cNvSpPr/>
          <p:nvPr/>
        </p:nvSpPr>
        <p:spPr>
          <a:xfrm>
            <a:off x="10241280" y="164592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5" name="Text 23"/>
          <p:cNvSpPr/>
          <p:nvPr/>
        </p:nvSpPr>
        <p:spPr>
          <a:xfrm>
            <a:off x="9464040" y="2377440"/>
            <a:ext cx="21945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Label Encoding</a:t>
            </a:r>
            <a:endParaRPr lang="en-US" sz="1400" dirty="0"/>
          </a:p>
        </p:txBody>
      </p:sp>
      <p:sp>
        <p:nvSpPr>
          <p:cNvPr id="26" name="Text 24"/>
          <p:cNvSpPr/>
          <p:nvPr/>
        </p:nvSpPr>
        <p:spPr>
          <a:xfrm>
            <a:off x="9464040" y="2697480"/>
            <a:ext cx="2194560" cy="27432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Category → Numeric</a:t>
            </a:r>
            <a:endParaRPr lang="en-US" sz="1100" dirty="0"/>
          </a:p>
        </p:txBody>
      </p:sp>
      <p:sp>
        <p:nvSpPr>
          <p:cNvPr id="27" name="Shape 25"/>
          <p:cNvSpPr/>
          <p:nvPr/>
        </p:nvSpPr>
        <p:spPr>
          <a:xfrm>
            <a:off x="548640" y="4023360"/>
            <a:ext cx="2468880" cy="1645920"/>
          </a:xfrm>
          <a:prstGeom prst="roundRect">
            <a:avLst>
              <a:gd name="adj" fmla="val 8333"/>
            </a:avLst>
          </a:prstGeom>
          <a:solidFill>
            <a:srgbClr val="0E4D64"/>
          </a:solidFill>
          <a:ln w="25400">
            <a:solidFill>
              <a:srgbClr val="E74C3C"/>
            </a:solidFill>
            <a:prstDash val="solid"/>
          </a:ln>
        </p:spPr>
      </p:sp>
      <p:sp>
        <p:nvSpPr>
          <p:cNvPr id="28" name="Shape 26"/>
          <p:cNvSpPr/>
          <p:nvPr/>
        </p:nvSpPr>
        <p:spPr>
          <a:xfrm>
            <a:off x="1463040" y="4206240"/>
            <a:ext cx="640080" cy="640080"/>
          </a:xfrm>
          <a:prstGeom prst="ellipse">
            <a:avLst/>
          </a:prstGeom>
          <a:solidFill>
            <a:srgbClr val="E74C3C"/>
          </a:solidFill>
          <a:ln/>
        </p:spPr>
      </p:sp>
      <p:sp>
        <p:nvSpPr>
          <p:cNvPr id="29" name="Text 27"/>
          <p:cNvSpPr/>
          <p:nvPr/>
        </p:nvSpPr>
        <p:spPr>
          <a:xfrm>
            <a:off x="1463040" y="420624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30" name="Text 28"/>
          <p:cNvSpPr/>
          <p:nvPr/>
        </p:nvSpPr>
        <p:spPr>
          <a:xfrm>
            <a:off x="685800" y="4937760"/>
            <a:ext cx="21945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Train/Test Split</a:t>
            </a:r>
            <a:endParaRPr lang="en-US" sz="1400" dirty="0"/>
          </a:p>
        </p:txBody>
      </p:sp>
      <p:sp>
        <p:nvSpPr>
          <p:cNvPr id="31" name="Text 29"/>
          <p:cNvSpPr/>
          <p:nvPr/>
        </p:nvSpPr>
        <p:spPr>
          <a:xfrm>
            <a:off x="685800" y="5257800"/>
            <a:ext cx="2194560" cy="27432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80:20 Ratio</a:t>
            </a:r>
            <a:endParaRPr lang="en-US" sz="1100" dirty="0"/>
          </a:p>
        </p:txBody>
      </p:sp>
      <p:sp>
        <p:nvSpPr>
          <p:cNvPr id="32" name="Text 30"/>
          <p:cNvSpPr/>
          <p:nvPr/>
        </p:nvSpPr>
        <p:spPr>
          <a:xfrm>
            <a:off x="3017520" y="4480560"/>
            <a:ext cx="457200" cy="731520"/>
          </a:xfrm>
          <a:prstGeom prst="rect">
            <a:avLst/>
          </a:prstGeom>
          <a:noFill/>
          <a:ln/>
        </p:spPr>
        <p:txBody>
          <a:bodyPr wrap="square" rtlCol="0" anchor="ctr"/>
          <a:lstStyle/>
          <a:p>
            <a:pPr algn="ctr" indent="0" marL="0">
              <a:buNone/>
            </a:pPr>
            <a:r>
              <a:rPr lang="en-US" sz="2800" dirty="0">
                <a:solidFill>
                  <a:srgbClr val="F4A825"/>
                </a:solidFill>
              </a:rPr>
              <a:t>→</a:t>
            </a:r>
            <a:endParaRPr lang="en-US" sz="2800" dirty="0"/>
          </a:p>
        </p:txBody>
      </p:sp>
      <p:sp>
        <p:nvSpPr>
          <p:cNvPr id="33" name="Shape 31"/>
          <p:cNvSpPr/>
          <p:nvPr/>
        </p:nvSpPr>
        <p:spPr>
          <a:xfrm>
            <a:off x="3474720" y="4023360"/>
            <a:ext cx="2468880" cy="1645920"/>
          </a:xfrm>
          <a:prstGeom prst="roundRect">
            <a:avLst>
              <a:gd name="adj" fmla="val 8333"/>
            </a:avLst>
          </a:prstGeom>
          <a:solidFill>
            <a:srgbClr val="0E4D64"/>
          </a:solidFill>
          <a:ln w="25400">
            <a:solidFill>
              <a:srgbClr val="0E4D64"/>
            </a:solidFill>
            <a:prstDash val="solid"/>
          </a:ln>
        </p:spPr>
      </p:sp>
      <p:sp>
        <p:nvSpPr>
          <p:cNvPr id="34" name="Shape 32"/>
          <p:cNvSpPr/>
          <p:nvPr/>
        </p:nvSpPr>
        <p:spPr>
          <a:xfrm>
            <a:off x="4389120" y="4206240"/>
            <a:ext cx="640080" cy="640080"/>
          </a:xfrm>
          <a:prstGeom prst="ellipse">
            <a:avLst/>
          </a:prstGeom>
          <a:solidFill>
            <a:srgbClr val="0E4D64"/>
          </a:solidFill>
          <a:ln/>
        </p:spPr>
      </p:sp>
      <p:sp>
        <p:nvSpPr>
          <p:cNvPr id="35" name="Text 33"/>
          <p:cNvSpPr/>
          <p:nvPr/>
        </p:nvSpPr>
        <p:spPr>
          <a:xfrm>
            <a:off x="4389120" y="420624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6</a:t>
            </a:r>
            <a:endParaRPr lang="en-US" sz="2200" dirty="0"/>
          </a:p>
        </p:txBody>
      </p:sp>
      <p:sp>
        <p:nvSpPr>
          <p:cNvPr id="36" name="Text 34"/>
          <p:cNvSpPr/>
          <p:nvPr/>
        </p:nvSpPr>
        <p:spPr>
          <a:xfrm>
            <a:off x="3611880" y="4937760"/>
            <a:ext cx="21945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Model Training</a:t>
            </a:r>
            <a:endParaRPr lang="en-US" sz="1400" dirty="0"/>
          </a:p>
        </p:txBody>
      </p:sp>
      <p:sp>
        <p:nvSpPr>
          <p:cNvPr id="37" name="Text 35"/>
          <p:cNvSpPr/>
          <p:nvPr/>
        </p:nvSpPr>
        <p:spPr>
          <a:xfrm>
            <a:off x="3611880" y="5257800"/>
            <a:ext cx="2194560" cy="27432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KNN, SVM, RF, NB</a:t>
            </a:r>
            <a:endParaRPr lang="en-US" sz="1100" dirty="0"/>
          </a:p>
        </p:txBody>
      </p:sp>
      <p:sp>
        <p:nvSpPr>
          <p:cNvPr id="38" name="Text 36"/>
          <p:cNvSpPr/>
          <p:nvPr/>
        </p:nvSpPr>
        <p:spPr>
          <a:xfrm>
            <a:off x="5943600" y="4480560"/>
            <a:ext cx="457200" cy="731520"/>
          </a:xfrm>
          <a:prstGeom prst="rect">
            <a:avLst/>
          </a:prstGeom>
          <a:noFill/>
          <a:ln/>
        </p:spPr>
        <p:txBody>
          <a:bodyPr wrap="square" rtlCol="0" anchor="ctr"/>
          <a:lstStyle/>
          <a:p>
            <a:pPr algn="ctr" indent="0" marL="0">
              <a:buNone/>
            </a:pPr>
            <a:r>
              <a:rPr lang="en-US" sz="2800" dirty="0">
                <a:solidFill>
                  <a:srgbClr val="F4A825"/>
                </a:solidFill>
              </a:rPr>
              <a:t>→</a:t>
            </a:r>
            <a:endParaRPr lang="en-US" sz="2800" dirty="0"/>
          </a:p>
        </p:txBody>
      </p:sp>
      <p:sp>
        <p:nvSpPr>
          <p:cNvPr id="39" name="Shape 37"/>
          <p:cNvSpPr/>
          <p:nvPr/>
        </p:nvSpPr>
        <p:spPr>
          <a:xfrm>
            <a:off x="6400800" y="4023360"/>
            <a:ext cx="2468880" cy="1645920"/>
          </a:xfrm>
          <a:prstGeom prst="roundRect">
            <a:avLst>
              <a:gd name="adj" fmla="val 8333"/>
            </a:avLst>
          </a:prstGeom>
          <a:solidFill>
            <a:srgbClr val="0E4D64"/>
          </a:solidFill>
          <a:ln w="25400">
            <a:solidFill>
              <a:srgbClr val="3498DB"/>
            </a:solidFill>
            <a:prstDash val="solid"/>
          </a:ln>
        </p:spPr>
      </p:sp>
      <p:sp>
        <p:nvSpPr>
          <p:cNvPr id="40" name="Shape 38"/>
          <p:cNvSpPr/>
          <p:nvPr/>
        </p:nvSpPr>
        <p:spPr>
          <a:xfrm>
            <a:off x="7315200" y="4206240"/>
            <a:ext cx="640080" cy="640080"/>
          </a:xfrm>
          <a:prstGeom prst="ellipse">
            <a:avLst/>
          </a:prstGeom>
          <a:solidFill>
            <a:srgbClr val="3498DB"/>
          </a:solidFill>
          <a:ln/>
        </p:spPr>
      </p:sp>
      <p:sp>
        <p:nvSpPr>
          <p:cNvPr id="41" name="Text 39"/>
          <p:cNvSpPr/>
          <p:nvPr/>
        </p:nvSpPr>
        <p:spPr>
          <a:xfrm>
            <a:off x="7315200" y="420624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7</a:t>
            </a:r>
            <a:endParaRPr lang="en-US" sz="2200" dirty="0"/>
          </a:p>
        </p:txBody>
      </p:sp>
      <p:sp>
        <p:nvSpPr>
          <p:cNvPr id="42" name="Text 40"/>
          <p:cNvSpPr/>
          <p:nvPr/>
        </p:nvSpPr>
        <p:spPr>
          <a:xfrm>
            <a:off x="6537960" y="4937760"/>
            <a:ext cx="21945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Evaluation</a:t>
            </a:r>
            <a:endParaRPr lang="en-US" sz="1400" dirty="0"/>
          </a:p>
        </p:txBody>
      </p:sp>
      <p:sp>
        <p:nvSpPr>
          <p:cNvPr id="43" name="Text 41"/>
          <p:cNvSpPr/>
          <p:nvPr/>
        </p:nvSpPr>
        <p:spPr>
          <a:xfrm>
            <a:off x="6537960" y="5257800"/>
            <a:ext cx="2194560" cy="27432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Accuracy, F1, CM</a:t>
            </a:r>
            <a:endParaRPr lang="en-US" sz="1100" dirty="0"/>
          </a:p>
        </p:txBody>
      </p:sp>
      <p:sp>
        <p:nvSpPr>
          <p:cNvPr id="44" name="Text 42"/>
          <p:cNvSpPr/>
          <p:nvPr/>
        </p:nvSpPr>
        <p:spPr>
          <a:xfrm>
            <a:off x="8869680" y="4480560"/>
            <a:ext cx="457200" cy="731520"/>
          </a:xfrm>
          <a:prstGeom prst="rect">
            <a:avLst/>
          </a:prstGeom>
          <a:noFill/>
          <a:ln/>
        </p:spPr>
        <p:txBody>
          <a:bodyPr wrap="square" rtlCol="0" anchor="ctr"/>
          <a:lstStyle/>
          <a:p>
            <a:pPr algn="ctr" indent="0" marL="0">
              <a:buNone/>
            </a:pPr>
            <a:r>
              <a:rPr lang="en-US" sz="2800" dirty="0">
                <a:solidFill>
                  <a:srgbClr val="F4A825"/>
                </a:solidFill>
              </a:rPr>
              <a:t>→</a:t>
            </a:r>
            <a:endParaRPr lang="en-US" sz="2800" dirty="0"/>
          </a:p>
        </p:txBody>
      </p:sp>
      <p:sp>
        <p:nvSpPr>
          <p:cNvPr id="45" name="Shape 43"/>
          <p:cNvSpPr/>
          <p:nvPr/>
        </p:nvSpPr>
        <p:spPr>
          <a:xfrm>
            <a:off x="9326880" y="4023360"/>
            <a:ext cx="2468880" cy="1645920"/>
          </a:xfrm>
          <a:prstGeom prst="roundRect">
            <a:avLst>
              <a:gd name="adj" fmla="val 8333"/>
            </a:avLst>
          </a:prstGeom>
          <a:solidFill>
            <a:srgbClr val="0E4D64"/>
          </a:solidFill>
          <a:ln w="25400">
            <a:solidFill>
              <a:srgbClr val="2ECC71"/>
            </a:solidFill>
            <a:prstDash val="solid"/>
          </a:ln>
        </p:spPr>
      </p:sp>
      <p:sp>
        <p:nvSpPr>
          <p:cNvPr id="46" name="Shape 44"/>
          <p:cNvSpPr/>
          <p:nvPr/>
        </p:nvSpPr>
        <p:spPr>
          <a:xfrm>
            <a:off x="10241280" y="4206240"/>
            <a:ext cx="640080" cy="640080"/>
          </a:xfrm>
          <a:prstGeom prst="ellipse">
            <a:avLst/>
          </a:prstGeom>
          <a:solidFill>
            <a:srgbClr val="2ECC71"/>
          </a:solidFill>
          <a:ln/>
        </p:spPr>
      </p:sp>
      <p:sp>
        <p:nvSpPr>
          <p:cNvPr id="47" name="Text 45"/>
          <p:cNvSpPr/>
          <p:nvPr/>
        </p:nvSpPr>
        <p:spPr>
          <a:xfrm>
            <a:off x="10241280" y="420624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8</a:t>
            </a:r>
            <a:endParaRPr lang="en-US" sz="2200" dirty="0"/>
          </a:p>
        </p:txBody>
      </p:sp>
      <p:sp>
        <p:nvSpPr>
          <p:cNvPr id="48" name="Text 46"/>
          <p:cNvSpPr/>
          <p:nvPr/>
        </p:nvSpPr>
        <p:spPr>
          <a:xfrm>
            <a:off x="9464040" y="4937760"/>
            <a:ext cx="21945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Deployment</a:t>
            </a:r>
            <a:endParaRPr lang="en-US" sz="1400" dirty="0"/>
          </a:p>
        </p:txBody>
      </p:sp>
      <p:sp>
        <p:nvSpPr>
          <p:cNvPr id="49" name="Text 47"/>
          <p:cNvSpPr/>
          <p:nvPr/>
        </p:nvSpPr>
        <p:spPr>
          <a:xfrm>
            <a:off x="9464040" y="5257800"/>
            <a:ext cx="2194560" cy="274320"/>
          </a:xfrm>
          <a:prstGeom prst="rect">
            <a:avLst/>
          </a:prstGeom>
          <a:noFill/>
          <a:ln/>
        </p:spPr>
        <p:txBody>
          <a:bodyPr wrap="square" rtlCol="0" anchor="ctr"/>
          <a:lstStyle/>
          <a:p>
            <a:pPr algn="ctr" indent="0" marL="0">
              <a:buNone/>
            </a:pPr>
            <a:r>
              <a:rPr lang="en-US" sz="1100" dirty="0">
                <a:solidFill>
                  <a:srgbClr val="7A8B8F"/>
                </a:solidFill>
                <a:latin typeface="Calibri" pitchFamily="34" charset="0"/>
                <a:ea typeface="Calibri" pitchFamily="34" charset="-122"/>
                <a:cs typeface="Calibri" pitchFamily="34" charset="-120"/>
              </a:rPr>
              <a:t>Streamlit Web App</a:t>
            </a:r>
            <a:endParaRPr lang="en-US" sz="1100" dirty="0"/>
          </a:p>
        </p:txBody>
      </p:sp>
      <p:sp>
        <p:nvSpPr>
          <p:cNvPr id="50" name="Text 48"/>
          <p:cNvSpPr/>
          <p:nvPr/>
        </p:nvSpPr>
        <p:spPr>
          <a:xfrm>
            <a:off x="11064240" y="3200400"/>
            <a:ext cx="457200" cy="731520"/>
          </a:xfrm>
          <a:prstGeom prst="rect">
            <a:avLst/>
          </a:prstGeom>
          <a:noFill/>
          <a:ln/>
        </p:spPr>
        <p:txBody>
          <a:bodyPr wrap="square" rtlCol="0" anchor="ctr"/>
          <a:lstStyle/>
          <a:p>
            <a:pPr algn="ctr" indent="0" marL="0">
              <a:buNone/>
            </a:pPr>
            <a:r>
              <a:rPr lang="en-US" sz="2800" dirty="0">
                <a:solidFill>
                  <a:srgbClr val="F4A825"/>
                </a:solidFill>
              </a:rPr>
              <a:t>↓</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5"/>
        </a:solidFill>
      </p:bgPr>
    </p:bg>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0D2B3E"/>
          </a:solidFill>
          <a:ln/>
        </p:spPr>
      </p:sp>
      <p:sp>
        <p:nvSpPr>
          <p:cNvPr id="3" name="Text 1"/>
          <p:cNvSpPr/>
          <p:nvPr/>
        </p:nvSpPr>
        <p:spPr>
          <a:xfrm>
            <a:off x="731520" y="137160"/>
            <a:ext cx="9144000" cy="640080"/>
          </a:xfrm>
          <a:prstGeom prst="rect">
            <a:avLst/>
          </a:prstGeom>
          <a:noFill/>
          <a:ln/>
        </p:spPr>
        <p:txBody>
          <a:bodyPr wrap="square" rtlCol="0" anchor="ctr"/>
          <a:lstStyle/>
          <a:p>
            <a:pPr indent="0" marL="0">
              <a:buNone/>
            </a:pPr>
            <a:r>
              <a:rPr lang="en-US" sz="3000" b="1" dirty="0">
                <a:solidFill>
                  <a:srgbClr val="F4A825"/>
                </a:solidFill>
                <a:latin typeface="Georgia" pitchFamily="34" charset="0"/>
                <a:ea typeface="Georgia" pitchFamily="34" charset="-122"/>
                <a:cs typeface="Georgia" pitchFamily="34" charset="-120"/>
              </a:rPr>
              <a:t>Results &amp; Accuracy Metrics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6858000" cy="914400"/>
        </p:xfrm>
        <a:graphic>
          <a:graphicData uri="http://schemas.openxmlformats.org/drawingml/2006/table">
            <a:tbl>
              <a:tblPr/>
              <a:tblGrid>
                <a:gridCol w="1828800"/>
                <a:gridCol w="1280160"/>
                <a:gridCol w="1280160"/>
                <a:gridCol w="1280160"/>
                <a:gridCol w="128016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Algorithm</a:t>
                      </a:r>
                      <a:endParaRPr lang="en-US" sz="14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3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3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3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3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F1-Score</a:t>
                      </a:r>
                      <a:endParaRPr lang="en-US" sz="14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3E"/>
                    </a:solidFill>
                  </a:tcPr>
                </a:tc>
              </a:tr>
              <a:tr h="365760">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KNN</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96.8%</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0.96</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0.96</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SVM (Linear)</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97.5%</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0.98</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95.2%</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Naive Bayes</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94.1%</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0.94</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0.94</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2A33"/>
                          </a:solidFill>
                          <a:latin typeface="Calibri" pitchFamily="34" charset="0"/>
                          <a:ea typeface="Calibri" pitchFamily="34" charset="-122"/>
                          <a:cs typeface="Calibri" pitchFamily="34" charset="-120"/>
                        </a:rPr>
                        <a:t>0.94</a:t>
                      </a:r>
                      <a:endParaRPr lang="en-US" sz="13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Shape 2"/>
          <p:cNvSpPr/>
          <p:nvPr/>
        </p:nvSpPr>
        <p:spPr>
          <a:xfrm>
            <a:off x="8046720" y="1188720"/>
            <a:ext cx="3657600" cy="2011680"/>
          </a:xfrm>
          <a:prstGeom prst="rect">
            <a:avLst>
              <a:gd name="adj" fmla="val 6818"/>
            </a:avLst>
          </a:prstGeom>
          <a:solidFill>
            <a:srgbClr val="0E4D64"/>
          </a:solidFill>
          <a:ln/>
        </p:spPr>
      </p:sp>
      <p:sp>
        <p:nvSpPr>
          <p:cNvPr id="6" name="Text 3"/>
          <p:cNvSpPr/>
          <p:nvPr/>
        </p:nvSpPr>
        <p:spPr>
          <a:xfrm>
            <a:off x="8229600" y="1325880"/>
            <a:ext cx="3291840" cy="457200"/>
          </a:xfrm>
          <a:prstGeom prst="rect">
            <a:avLst/>
          </a:prstGeom>
          <a:noFill/>
          <a:ln/>
        </p:spPr>
        <p:txBody>
          <a:bodyPr wrap="square" rtlCol="0" anchor="ctr"/>
          <a:lstStyle/>
          <a:p>
            <a:pPr algn="ctr" indent="0" marL="0">
              <a:buNone/>
            </a:pPr>
            <a:r>
              <a:rPr lang="en-US" sz="1800" b="1" dirty="0">
                <a:solidFill>
                  <a:srgbClr val="F4A825"/>
                </a:solidFill>
                <a:latin typeface="Georgia" pitchFamily="34" charset="0"/>
                <a:ea typeface="Georgia" pitchFamily="34" charset="-122"/>
                <a:cs typeface="Georgia" pitchFamily="34" charset="-120"/>
              </a:rPr>
              <a:t>🏆 Best Model</a:t>
            </a:r>
            <a:endParaRPr lang="en-US" sz="1800" dirty="0"/>
          </a:p>
        </p:txBody>
      </p:sp>
      <p:sp>
        <p:nvSpPr>
          <p:cNvPr id="7" name="Text 4"/>
          <p:cNvSpPr/>
          <p:nvPr/>
        </p:nvSpPr>
        <p:spPr>
          <a:xfrm>
            <a:off x="8229600" y="1783080"/>
            <a:ext cx="3291840" cy="3657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SVM (Linear Kernel)</a:t>
            </a:r>
            <a:endParaRPr lang="en-US" sz="1600" dirty="0"/>
          </a:p>
        </p:txBody>
      </p:sp>
      <p:sp>
        <p:nvSpPr>
          <p:cNvPr id="8" name="Text 5"/>
          <p:cNvSpPr/>
          <p:nvPr/>
        </p:nvSpPr>
        <p:spPr>
          <a:xfrm>
            <a:off x="8229600" y="2194560"/>
            <a:ext cx="3291840" cy="640080"/>
          </a:xfrm>
          <a:prstGeom prst="rect">
            <a:avLst/>
          </a:prstGeom>
          <a:noFill/>
          <a:ln/>
        </p:spPr>
        <p:txBody>
          <a:bodyPr wrap="square" rtlCol="0" anchor="ctr"/>
          <a:lstStyle/>
          <a:p>
            <a:pPr algn="ctr" indent="0" marL="0">
              <a:buNone/>
            </a:pPr>
            <a:r>
              <a:rPr lang="en-US" sz="4400" b="1" dirty="0">
                <a:solidFill>
                  <a:srgbClr val="F4A825"/>
                </a:solidFill>
                <a:latin typeface="Georgia" pitchFamily="34" charset="0"/>
                <a:ea typeface="Georgia" pitchFamily="34" charset="-122"/>
                <a:cs typeface="Georgia" pitchFamily="34" charset="-120"/>
              </a:rPr>
              <a:t>97.5%</a:t>
            </a:r>
            <a:endParaRPr lang="en-US" sz="4400" dirty="0"/>
          </a:p>
        </p:txBody>
      </p:sp>
      <p:sp>
        <p:nvSpPr>
          <p:cNvPr id="9" name="Text 6"/>
          <p:cNvSpPr/>
          <p:nvPr/>
        </p:nvSpPr>
        <p:spPr>
          <a:xfrm>
            <a:off x="8229600" y="2788920"/>
            <a:ext cx="3291840" cy="274320"/>
          </a:xfrm>
          <a:prstGeom prst="rect">
            <a:avLst/>
          </a:prstGeom>
          <a:noFill/>
          <a:ln/>
        </p:spPr>
        <p:txBody>
          <a:bodyPr wrap="square" rtlCol="0" anchor="ctr"/>
          <a:lstStyle/>
          <a:p>
            <a:pPr algn="ctr" indent="0" marL="0">
              <a:buNone/>
            </a:pPr>
            <a:r>
              <a:rPr lang="en-US" sz="1300" dirty="0">
                <a:solidFill>
                  <a:srgbClr val="7A8B8F"/>
                </a:solidFill>
                <a:latin typeface="Calibri" pitchFamily="34" charset="0"/>
                <a:ea typeface="Calibri" pitchFamily="34" charset="-122"/>
                <a:cs typeface="Calibri" pitchFamily="34" charset="-120"/>
              </a:rPr>
              <a:t>Accuracy</a:t>
            </a:r>
            <a:endParaRPr lang="en-US" sz="1300" dirty="0"/>
          </a:p>
        </p:txBody>
      </p:sp>
      <p:sp>
        <p:nvSpPr>
          <p:cNvPr id="10" name="Text 7"/>
          <p:cNvSpPr/>
          <p:nvPr/>
        </p:nvSpPr>
        <p:spPr>
          <a:xfrm>
            <a:off x="731520" y="3657600"/>
            <a:ext cx="4572000" cy="457200"/>
          </a:xfrm>
          <a:prstGeom prst="rect">
            <a:avLst/>
          </a:prstGeom>
          <a:noFill/>
          <a:ln/>
        </p:spPr>
        <p:txBody>
          <a:bodyPr wrap="square" rtlCol="0" anchor="ctr"/>
          <a:lstStyle/>
          <a:p>
            <a:pPr indent="0" marL="0">
              <a:buNone/>
            </a:pPr>
            <a:r>
              <a:rPr lang="en-US" sz="2000" b="1" dirty="0">
                <a:solidFill>
                  <a:srgbClr val="0E4D64"/>
                </a:solidFill>
                <a:latin typeface="Georgia" pitchFamily="34" charset="0"/>
                <a:ea typeface="Georgia" pitchFamily="34" charset="-122"/>
                <a:cs typeface="Georgia" pitchFamily="34" charset="-120"/>
              </a:rPr>
              <a:t>Key Observations</a:t>
            </a:r>
            <a:endParaRPr lang="en-US" sz="2000" dirty="0"/>
          </a:p>
        </p:txBody>
      </p:sp>
      <p:sp>
        <p:nvSpPr>
          <p:cNvPr id="11" name="Shape 8"/>
          <p:cNvSpPr/>
          <p:nvPr/>
        </p:nvSpPr>
        <p:spPr>
          <a:xfrm>
            <a:off x="731520" y="4297680"/>
            <a:ext cx="228600" cy="228600"/>
          </a:xfrm>
          <a:prstGeom prst="ellipse">
            <a:avLst/>
          </a:prstGeom>
          <a:solidFill>
            <a:srgbClr val="F4A825"/>
          </a:solidFill>
          <a:ln/>
        </p:spPr>
      </p:sp>
      <p:sp>
        <p:nvSpPr>
          <p:cNvPr id="12" name="Text 9"/>
          <p:cNvSpPr/>
          <p:nvPr/>
        </p:nvSpPr>
        <p:spPr>
          <a:xfrm>
            <a:off x="1097280" y="4233672"/>
            <a:ext cx="10515600" cy="365760"/>
          </a:xfrm>
          <a:prstGeom prst="rect">
            <a:avLst/>
          </a:prstGeom>
          <a:noFill/>
          <a:ln/>
        </p:spPr>
        <p:txBody>
          <a:bodyPr wrap="square" rtlCol="0" anchor="ctr"/>
          <a:lstStyle/>
          <a:p>
            <a:pPr indent="0" marL="0">
              <a:buNone/>
            </a:pPr>
            <a:r>
              <a:rPr lang="en-US" sz="1250" dirty="0">
                <a:solidFill>
                  <a:srgbClr val="1A2A33"/>
                </a:solidFill>
                <a:latin typeface="Calibri" pitchFamily="34" charset="0"/>
                <a:ea typeface="Calibri" pitchFamily="34" charset="-122"/>
                <a:cs typeface="Calibri" pitchFamily="34" charset="-120"/>
              </a:rPr>
              <a:t>SVM with linear kernel achieved the highest accuracy of 97.5% across 25 resume categories</a:t>
            </a:r>
            <a:endParaRPr lang="en-US" sz="1250" dirty="0"/>
          </a:p>
        </p:txBody>
      </p:sp>
      <p:sp>
        <p:nvSpPr>
          <p:cNvPr id="13" name="Shape 10"/>
          <p:cNvSpPr/>
          <p:nvPr/>
        </p:nvSpPr>
        <p:spPr>
          <a:xfrm>
            <a:off x="731520" y="4800600"/>
            <a:ext cx="228600" cy="228600"/>
          </a:xfrm>
          <a:prstGeom prst="ellipse">
            <a:avLst/>
          </a:prstGeom>
          <a:solidFill>
            <a:srgbClr val="F4A825"/>
          </a:solidFill>
          <a:ln/>
        </p:spPr>
      </p:sp>
      <p:sp>
        <p:nvSpPr>
          <p:cNvPr id="14" name="Text 11"/>
          <p:cNvSpPr/>
          <p:nvPr/>
        </p:nvSpPr>
        <p:spPr>
          <a:xfrm>
            <a:off x="1097280" y="4736592"/>
            <a:ext cx="10515600" cy="365760"/>
          </a:xfrm>
          <a:prstGeom prst="rect">
            <a:avLst/>
          </a:prstGeom>
          <a:noFill/>
          <a:ln/>
        </p:spPr>
        <p:txBody>
          <a:bodyPr wrap="square" rtlCol="0" anchor="ctr"/>
          <a:lstStyle/>
          <a:p>
            <a:pPr indent="0" marL="0">
              <a:buNone/>
            </a:pPr>
            <a:r>
              <a:rPr lang="en-US" sz="1250" dirty="0">
                <a:solidFill>
                  <a:srgbClr val="1A2A33"/>
                </a:solidFill>
                <a:latin typeface="Calibri" pitchFamily="34" charset="0"/>
                <a:ea typeface="Calibri" pitchFamily="34" charset="-122"/>
                <a:cs typeface="Calibri" pitchFamily="34" charset="-120"/>
              </a:rPr>
              <a:t>TF-IDF features with max 1500 features provided optimal balance of accuracy and speed</a:t>
            </a:r>
            <a:endParaRPr lang="en-US" sz="1250" dirty="0"/>
          </a:p>
        </p:txBody>
      </p:sp>
      <p:sp>
        <p:nvSpPr>
          <p:cNvPr id="15" name="Shape 12"/>
          <p:cNvSpPr/>
          <p:nvPr/>
        </p:nvSpPr>
        <p:spPr>
          <a:xfrm>
            <a:off x="731520" y="5303520"/>
            <a:ext cx="228600" cy="228600"/>
          </a:xfrm>
          <a:prstGeom prst="ellipse">
            <a:avLst/>
          </a:prstGeom>
          <a:solidFill>
            <a:srgbClr val="F4A825"/>
          </a:solidFill>
          <a:ln/>
        </p:spPr>
      </p:sp>
      <p:sp>
        <p:nvSpPr>
          <p:cNvPr id="16" name="Text 13"/>
          <p:cNvSpPr/>
          <p:nvPr/>
        </p:nvSpPr>
        <p:spPr>
          <a:xfrm>
            <a:off x="1097280" y="5239512"/>
            <a:ext cx="10515600" cy="365760"/>
          </a:xfrm>
          <a:prstGeom prst="rect">
            <a:avLst/>
          </a:prstGeom>
          <a:noFill/>
          <a:ln/>
        </p:spPr>
        <p:txBody>
          <a:bodyPr wrap="square" rtlCol="0" anchor="ctr"/>
          <a:lstStyle/>
          <a:p>
            <a:pPr indent="0" marL="0">
              <a:buNone/>
            </a:pPr>
            <a:r>
              <a:rPr lang="en-US" sz="1250" dirty="0">
                <a:solidFill>
                  <a:srgbClr val="1A2A33"/>
                </a:solidFill>
                <a:latin typeface="Calibri" pitchFamily="34" charset="0"/>
                <a:ea typeface="Calibri" pitchFamily="34" charset="-122"/>
                <a:cs typeface="Calibri" pitchFamily="34" charset="-120"/>
              </a:rPr>
              <a:t>Data Science and Web Development categories had the highest classification precision</a:t>
            </a:r>
            <a:endParaRPr lang="en-US" sz="1250" dirty="0"/>
          </a:p>
        </p:txBody>
      </p:sp>
      <p:sp>
        <p:nvSpPr>
          <p:cNvPr id="17" name="Shape 14"/>
          <p:cNvSpPr/>
          <p:nvPr/>
        </p:nvSpPr>
        <p:spPr>
          <a:xfrm>
            <a:off x="731520" y="5806440"/>
            <a:ext cx="228600" cy="228600"/>
          </a:xfrm>
          <a:prstGeom prst="ellipse">
            <a:avLst/>
          </a:prstGeom>
          <a:solidFill>
            <a:srgbClr val="F4A825"/>
          </a:solidFill>
          <a:ln/>
        </p:spPr>
      </p:sp>
      <p:sp>
        <p:nvSpPr>
          <p:cNvPr id="18" name="Text 15"/>
          <p:cNvSpPr/>
          <p:nvPr/>
        </p:nvSpPr>
        <p:spPr>
          <a:xfrm>
            <a:off x="1097280" y="5742432"/>
            <a:ext cx="10515600" cy="365760"/>
          </a:xfrm>
          <a:prstGeom prst="rect">
            <a:avLst/>
          </a:prstGeom>
          <a:noFill/>
          <a:ln/>
        </p:spPr>
        <p:txBody>
          <a:bodyPr wrap="square" rtlCol="0" anchor="ctr"/>
          <a:lstStyle/>
          <a:p>
            <a:pPr indent="0" marL="0">
              <a:buNone/>
            </a:pPr>
            <a:r>
              <a:rPr lang="en-US" sz="1250" dirty="0">
                <a:solidFill>
                  <a:srgbClr val="1A2A33"/>
                </a:solidFill>
                <a:latin typeface="Calibri" pitchFamily="34" charset="0"/>
                <a:ea typeface="Calibri" pitchFamily="34" charset="-122"/>
                <a:cs typeface="Calibri" pitchFamily="34" charset="-120"/>
              </a:rPr>
              <a:t>Cross-validation (5-fold) confirmed model stability with ±1.2% variance</a:t>
            </a:r>
            <a:endParaRPr lang="en-US" sz="1250" dirty="0"/>
          </a:p>
        </p:txBody>
      </p:sp>
      <p:sp>
        <p:nvSpPr>
          <p:cNvPr id="19" name="Text 16"/>
          <p:cNvSpPr/>
          <p:nvPr/>
        </p:nvSpPr>
        <p:spPr>
          <a:xfrm>
            <a:off x="8046720" y="3657600"/>
            <a:ext cx="3657600" cy="457200"/>
          </a:xfrm>
          <a:prstGeom prst="rect">
            <a:avLst/>
          </a:prstGeom>
          <a:noFill/>
          <a:ln/>
        </p:spPr>
        <p:txBody>
          <a:bodyPr wrap="square" rtlCol="0" anchor="ctr"/>
          <a:lstStyle/>
          <a:p>
            <a:pPr algn="ctr" indent="0" marL="0">
              <a:buNone/>
            </a:pPr>
            <a:r>
              <a:rPr lang="en-US" sz="1600" b="1" dirty="0">
                <a:solidFill>
                  <a:srgbClr val="0E4D64"/>
                </a:solidFill>
                <a:latin typeface="Georgia" pitchFamily="34" charset="0"/>
                <a:ea typeface="Georgia" pitchFamily="34" charset="-122"/>
                <a:cs typeface="Georgia" pitchFamily="34" charset="-120"/>
              </a:rPr>
              <a:t>Model Accuracy Comparison</a:t>
            </a:r>
            <a:endParaRPr lang="en-US" sz="1600" dirty="0"/>
          </a:p>
        </p:txBody>
      </p:sp>
      <p:sp>
        <p:nvSpPr>
          <p:cNvPr id="20" name="Text 17"/>
          <p:cNvSpPr/>
          <p:nvPr/>
        </p:nvSpPr>
        <p:spPr>
          <a:xfrm>
            <a:off x="8046720" y="4297680"/>
            <a:ext cx="731520" cy="365760"/>
          </a:xfrm>
          <a:prstGeom prst="rect">
            <a:avLst/>
          </a:prstGeom>
          <a:noFill/>
          <a:ln/>
        </p:spPr>
        <p:txBody>
          <a:bodyPr wrap="square" rtlCol="0" anchor="ctr"/>
          <a:lstStyle/>
          <a:p>
            <a:pPr indent="0" marL="0">
              <a:buNone/>
            </a:pPr>
            <a:r>
              <a:rPr lang="en-US" sz="1100" dirty="0">
                <a:solidFill>
                  <a:srgbClr val="1A2A33"/>
                </a:solidFill>
                <a:latin typeface="Calibri" pitchFamily="34" charset="0"/>
                <a:ea typeface="Calibri" pitchFamily="34" charset="-122"/>
                <a:cs typeface="Calibri" pitchFamily="34" charset="-120"/>
              </a:rPr>
              <a:t>SVM</a:t>
            </a:r>
            <a:endParaRPr lang="en-US" sz="1100" dirty="0"/>
          </a:p>
        </p:txBody>
      </p:sp>
      <p:sp>
        <p:nvSpPr>
          <p:cNvPr id="21" name="Shape 18"/>
          <p:cNvSpPr/>
          <p:nvPr/>
        </p:nvSpPr>
        <p:spPr>
          <a:xfrm>
            <a:off x="8778240" y="4343400"/>
            <a:ext cx="2674620" cy="274320"/>
          </a:xfrm>
          <a:prstGeom prst="rect">
            <a:avLst>
              <a:gd name="adj" fmla="val 16667"/>
            </a:avLst>
          </a:prstGeom>
          <a:solidFill>
            <a:srgbClr val="2ECC71"/>
          </a:solidFill>
          <a:ln/>
        </p:spPr>
      </p:sp>
      <p:sp>
        <p:nvSpPr>
          <p:cNvPr id="22" name="Text 19"/>
          <p:cNvSpPr/>
          <p:nvPr/>
        </p:nvSpPr>
        <p:spPr>
          <a:xfrm>
            <a:off x="11544300" y="4297680"/>
            <a:ext cx="640080" cy="365760"/>
          </a:xfrm>
          <a:prstGeom prst="rect">
            <a:avLst/>
          </a:prstGeom>
          <a:noFill/>
          <a:ln/>
        </p:spPr>
        <p:txBody>
          <a:bodyPr wrap="square" rtlCol="0" anchor="ctr"/>
          <a:lstStyle/>
          <a:p>
            <a:pPr indent="0" marL="0">
              <a:buNone/>
            </a:pPr>
            <a:r>
              <a:rPr lang="en-US" sz="1100" b="1" dirty="0">
                <a:solidFill>
                  <a:srgbClr val="1A2A33"/>
                </a:solidFill>
                <a:latin typeface="Calibri" pitchFamily="34" charset="0"/>
                <a:ea typeface="Calibri" pitchFamily="34" charset="-122"/>
                <a:cs typeface="Calibri" pitchFamily="34" charset="-120"/>
              </a:rPr>
              <a:t>97.5%</a:t>
            </a:r>
            <a:endParaRPr lang="en-US" sz="1100" dirty="0"/>
          </a:p>
        </p:txBody>
      </p:sp>
      <p:sp>
        <p:nvSpPr>
          <p:cNvPr id="23" name="Text 20"/>
          <p:cNvSpPr/>
          <p:nvPr/>
        </p:nvSpPr>
        <p:spPr>
          <a:xfrm>
            <a:off x="8046720" y="4846320"/>
            <a:ext cx="731520" cy="365760"/>
          </a:xfrm>
          <a:prstGeom prst="rect">
            <a:avLst/>
          </a:prstGeom>
          <a:noFill/>
          <a:ln/>
        </p:spPr>
        <p:txBody>
          <a:bodyPr wrap="square" rtlCol="0" anchor="ctr"/>
          <a:lstStyle/>
          <a:p>
            <a:pPr indent="0" marL="0">
              <a:buNone/>
            </a:pPr>
            <a:r>
              <a:rPr lang="en-US" sz="1100" dirty="0">
                <a:solidFill>
                  <a:srgbClr val="1A2A33"/>
                </a:solidFill>
                <a:latin typeface="Calibri" pitchFamily="34" charset="0"/>
                <a:ea typeface="Calibri" pitchFamily="34" charset="-122"/>
                <a:cs typeface="Calibri" pitchFamily="34" charset="-120"/>
              </a:rPr>
              <a:t>KNN</a:t>
            </a:r>
            <a:endParaRPr lang="en-US" sz="1100" dirty="0"/>
          </a:p>
        </p:txBody>
      </p:sp>
      <p:sp>
        <p:nvSpPr>
          <p:cNvPr id="24" name="Shape 21"/>
          <p:cNvSpPr/>
          <p:nvPr/>
        </p:nvSpPr>
        <p:spPr>
          <a:xfrm>
            <a:off x="8778240" y="4892040"/>
            <a:ext cx="2655418" cy="274320"/>
          </a:xfrm>
          <a:prstGeom prst="rect">
            <a:avLst>
              <a:gd name="adj" fmla="val 16667"/>
            </a:avLst>
          </a:prstGeom>
          <a:solidFill>
            <a:srgbClr val="3498DB"/>
          </a:solidFill>
          <a:ln/>
        </p:spPr>
      </p:sp>
      <p:sp>
        <p:nvSpPr>
          <p:cNvPr id="25" name="Text 22"/>
          <p:cNvSpPr/>
          <p:nvPr/>
        </p:nvSpPr>
        <p:spPr>
          <a:xfrm>
            <a:off x="11525098" y="4846320"/>
            <a:ext cx="640080" cy="365760"/>
          </a:xfrm>
          <a:prstGeom prst="rect">
            <a:avLst/>
          </a:prstGeom>
          <a:noFill/>
          <a:ln/>
        </p:spPr>
        <p:txBody>
          <a:bodyPr wrap="square" rtlCol="0" anchor="ctr"/>
          <a:lstStyle/>
          <a:p>
            <a:pPr indent="0" marL="0">
              <a:buNone/>
            </a:pPr>
            <a:r>
              <a:rPr lang="en-US" sz="1100" b="1" dirty="0">
                <a:solidFill>
                  <a:srgbClr val="1A2A33"/>
                </a:solidFill>
                <a:latin typeface="Calibri" pitchFamily="34" charset="0"/>
                <a:ea typeface="Calibri" pitchFamily="34" charset="-122"/>
                <a:cs typeface="Calibri" pitchFamily="34" charset="-120"/>
              </a:rPr>
              <a:t>96.8%</a:t>
            </a:r>
            <a:endParaRPr lang="en-US" sz="1100" dirty="0"/>
          </a:p>
        </p:txBody>
      </p:sp>
      <p:sp>
        <p:nvSpPr>
          <p:cNvPr id="26" name="Text 23"/>
          <p:cNvSpPr/>
          <p:nvPr/>
        </p:nvSpPr>
        <p:spPr>
          <a:xfrm>
            <a:off x="8046720" y="5394960"/>
            <a:ext cx="731520" cy="365760"/>
          </a:xfrm>
          <a:prstGeom prst="rect">
            <a:avLst/>
          </a:prstGeom>
          <a:noFill/>
          <a:ln/>
        </p:spPr>
        <p:txBody>
          <a:bodyPr wrap="square" rtlCol="0" anchor="ctr"/>
          <a:lstStyle/>
          <a:p>
            <a:pPr indent="0" marL="0">
              <a:buNone/>
            </a:pPr>
            <a:r>
              <a:rPr lang="en-US" sz="1100" dirty="0">
                <a:solidFill>
                  <a:srgbClr val="1A2A33"/>
                </a:solidFill>
                <a:latin typeface="Calibri" pitchFamily="34" charset="0"/>
                <a:ea typeface="Calibri" pitchFamily="34" charset="-122"/>
                <a:cs typeface="Calibri" pitchFamily="34" charset="-120"/>
              </a:rPr>
              <a:t>RF</a:t>
            </a:r>
            <a:endParaRPr lang="en-US" sz="1100" dirty="0"/>
          </a:p>
        </p:txBody>
      </p:sp>
      <p:sp>
        <p:nvSpPr>
          <p:cNvPr id="27" name="Shape 24"/>
          <p:cNvSpPr/>
          <p:nvPr/>
        </p:nvSpPr>
        <p:spPr>
          <a:xfrm>
            <a:off x="8778240" y="5440680"/>
            <a:ext cx="2611526" cy="274320"/>
          </a:xfrm>
          <a:prstGeom prst="rect">
            <a:avLst>
              <a:gd name="adj" fmla="val 16667"/>
            </a:avLst>
          </a:prstGeom>
          <a:solidFill>
            <a:srgbClr val="F39C12"/>
          </a:solidFill>
          <a:ln/>
        </p:spPr>
      </p:sp>
      <p:sp>
        <p:nvSpPr>
          <p:cNvPr id="28" name="Text 25"/>
          <p:cNvSpPr/>
          <p:nvPr/>
        </p:nvSpPr>
        <p:spPr>
          <a:xfrm>
            <a:off x="11481206" y="5394960"/>
            <a:ext cx="640080" cy="365760"/>
          </a:xfrm>
          <a:prstGeom prst="rect">
            <a:avLst/>
          </a:prstGeom>
          <a:noFill/>
          <a:ln/>
        </p:spPr>
        <p:txBody>
          <a:bodyPr wrap="square" rtlCol="0" anchor="ctr"/>
          <a:lstStyle/>
          <a:p>
            <a:pPr indent="0" marL="0">
              <a:buNone/>
            </a:pPr>
            <a:r>
              <a:rPr lang="en-US" sz="1100" b="1" dirty="0">
                <a:solidFill>
                  <a:srgbClr val="1A2A33"/>
                </a:solidFill>
                <a:latin typeface="Calibri" pitchFamily="34" charset="0"/>
                <a:ea typeface="Calibri" pitchFamily="34" charset="-122"/>
                <a:cs typeface="Calibri" pitchFamily="34" charset="-120"/>
              </a:rPr>
              <a:t>95.2%</a:t>
            </a:r>
            <a:endParaRPr lang="en-US" sz="1100" dirty="0"/>
          </a:p>
        </p:txBody>
      </p:sp>
      <p:sp>
        <p:nvSpPr>
          <p:cNvPr id="29" name="Text 26"/>
          <p:cNvSpPr/>
          <p:nvPr/>
        </p:nvSpPr>
        <p:spPr>
          <a:xfrm>
            <a:off x="8046720" y="5943600"/>
            <a:ext cx="731520" cy="365760"/>
          </a:xfrm>
          <a:prstGeom prst="rect">
            <a:avLst/>
          </a:prstGeom>
          <a:noFill/>
          <a:ln/>
        </p:spPr>
        <p:txBody>
          <a:bodyPr wrap="square" rtlCol="0" anchor="ctr"/>
          <a:lstStyle/>
          <a:p>
            <a:pPr indent="0" marL="0">
              <a:buNone/>
            </a:pPr>
            <a:r>
              <a:rPr lang="en-US" sz="1100" dirty="0">
                <a:solidFill>
                  <a:srgbClr val="1A2A33"/>
                </a:solidFill>
                <a:latin typeface="Calibri" pitchFamily="34" charset="0"/>
                <a:ea typeface="Calibri" pitchFamily="34" charset="-122"/>
                <a:cs typeface="Calibri" pitchFamily="34" charset="-120"/>
              </a:rPr>
              <a:t>NB</a:t>
            </a:r>
            <a:endParaRPr lang="en-US" sz="1100" dirty="0"/>
          </a:p>
        </p:txBody>
      </p:sp>
      <p:sp>
        <p:nvSpPr>
          <p:cNvPr id="30" name="Shape 27"/>
          <p:cNvSpPr/>
          <p:nvPr/>
        </p:nvSpPr>
        <p:spPr>
          <a:xfrm>
            <a:off x="8778240" y="5989320"/>
            <a:ext cx="2581351" cy="274320"/>
          </a:xfrm>
          <a:prstGeom prst="rect">
            <a:avLst>
              <a:gd name="adj" fmla="val 16667"/>
            </a:avLst>
          </a:prstGeom>
          <a:solidFill>
            <a:srgbClr val="E74C3C"/>
          </a:solidFill>
          <a:ln/>
        </p:spPr>
      </p:sp>
      <p:sp>
        <p:nvSpPr>
          <p:cNvPr id="31" name="Text 28"/>
          <p:cNvSpPr/>
          <p:nvPr/>
        </p:nvSpPr>
        <p:spPr>
          <a:xfrm>
            <a:off x="11451031" y="5943600"/>
            <a:ext cx="640080" cy="365760"/>
          </a:xfrm>
          <a:prstGeom prst="rect">
            <a:avLst/>
          </a:prstGeom>
          <a:noFill/>
          <a:ln/>
        </p:spPr>
        <p:txBody>
          <a:bodyPr wrap="square" rtlCol="0" anchor="ctr"/>
          <a:lstStyle/>
          <a:p>
            <a:pPr indent="0" marL="0">
              <a:buNone/>
            </a:pPr>
            <a:r>
              <a:rPr lang="en-US" sz="1100" b="1" dirty="0">
                <a:solidFill>
                  <a:srgbClr val="1A2A33"/>
                </a:solidFill>
                <a:latin typeface="Calibri" pitchFamily="34" charset="0"/>
                <a:ea typeface="Calibri" pitchFamily="34" charset="-122"/>
                <a:cs typeface="Calibri" pitchFamily="34" charset="-120"/>
              </a:rPr>
              <a:t>94.1%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B3E"/>
        </a:solidFill>
      </p:bgPr>
    </p:bg>
    <p:spTree>
      <p:nvGrpSpPr>
        <p:cNvPr id="1" name=""/>
        <p:cNvGrpSpPr/>
        <p:nvPr/>
      </p:nvGrpSpPr>
      <p:grpSpPr>
        <a:xfrm>
          <a:off x="0" y="0"/>
          <a:ext cx="0" cy="0"/>
          <a:chOff x="0" y="0"/>
          <a:chExt cx="0" cy="0"/>
        </a:xfrm>
      </p:grpSpPr>
      <p:sp>
        <p:nvSpPr>
          <p:cNvPr id="2" name="Text 0"/>
          <p:cNvSpPr/>
          <p:nvPr/>
        </p:nvSpPr>
        <p:spPr>
          <a:xfrm>
            <a:off x="731520" y="274320"/>
            <a:ext cx="7315200" cy="731520"/>
          </a:xfrm>
          <a:prstGeom prst="rect">
            <a:avLst/>
          </a:prstGeom>
          <a:noFill/>
          <a:ln/>
        </p:spPr>
        <p:txBody>
          <a:bodyPr wrap="square" rtlCol="0" anchor="ctr"/>
          <a:lstStyle/>
          <a:p>
            <a:pPr indent="0" marL="0">
              <a:buNone/>
            </a:pPr>
            <a:r>
              <a:rPr lang="en-US" sz="3200" b="1" dirty="0">
                <a:solidFill>
                  <a:srgbClr val="F4A825"/>
                </a:solidFill>
                <a:latin typeface="Georgia" pitchFamily="34" charset="0"/>
                <a:ea typeface="Georgia" pitchFamily="34" charset="-122"/>
                <a:cs typeface="Georgia" pitchFamily="34" charset="-120"/>
              </a:rPr>
              <a:t>Future Scope</a:t>
            </a:r>
            <a:endParaRPr lang="en-US" sz="3200" dirty="0"/>
          </a:p>
        </p:txBody>
      </p:sp>
      <p:sp>
        <p:nvSpPr>
          <p:cNvPr id="3" name="Shape 1"/>
          <p:cNvSpPr/>
          <p:nvPr/>
        </p:nvSpPr>
        <p:spPr>
          <a:xfrm>
            <a:off x="731520" y="960120"/>
            <a:ext cx="2286000" cy="36576"/>
          </a:xfrm>
          <a:prstGeom prst="rect">
            <a:avLst/>
          </a:prstGeom>
          <a:solidFill>
            <a:srgbClr val="F4A825"/>
          </a:solidFill>
          <a:ln/>
        </p:spPr>
      </p:sp>
      <p:sp>
        <p:nvSpPr>
          <p:cNvPr id="4" name="Shape 2"/>
          <p:cNvSpPr/>
          <p:nvPr/>
        </p:nvSpPr>
        <p:spPr>
          <a:xfrm>
            <a:off x="731520" y="1371600"/>
            <a:ext cx="5303520" cy="1280160"/>
          </a:xfrm>
          <a:prstGeom prst="rect">
            <a:avLst>
              <a:gd name="adj" fmla="val 8571"/>
            </a:avLst>
          </a:prstGeom>
          <a:solidFill>
            <a:srgbClr val="0E4D64"/>
          </a:solidFill>
          <a:ln/>
        </p:spPr>
      </p:sp>
      <p:sp>
        <p:nvSpPr>
          <p:cNvPr id="5" name="Text 3"/>
          <p:cNvSpPr/>
          <p:nvPr/>
        </p:nvSpPr>
        <p:spPr>
          <a:xfrm>
            <a:off x="1005840" y="1508760"/>
            <a:ext cx="457200" cy="45720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6" name="Text 4"/>
          <p:cNvSpPr/>
          <p:nvPr/>
        </p:nvSpPr>
        <p:spPr>
          <a:xfrm>
            <a:off x="1554480" y="1508760"/>
            <a:ext cx="4114800" cy="365760"/>
          </a:xfrm>
          <a:prstGeom prst="rect">
            <a:avLst/>
          </a:prstGeom>
          <a:noFill/>
          <a:ln/>
        </p:spPr>
        <p:txBody>
          <a:bodyPr wrap="square" rtlCol="0" anchor="ctr"/>
          <a:lstStyle/>
          <a:p>
            <a:pPr indent="0" marL="0">
              <a:buNone/>
            </a:pPr>
            <a:r>
              <a:rPr lang="en-US" sz="1600" b="1" dirty="0">
                <a:solidFill>
                  <a:srgbClr val="F4A825"/>
                </a:solidFill>
                <a:latin typeface="Georgia" pitchFamily="34" charset="0"/>
                <a:ea typeface="Georgia" pitchFamily="34" charset="-122"/>
                <a:cs typeface="Georgia" pitchFamily="34" charset="-120"/>
              </a:rPr>
              <a:t>Deep Learning Integration</a:t>
            </a:r>
            <a:endParaRPr lang="en-US" sz="1600" dirty="0"/>
          </a:p>
        </p:txBody>
      </p:sp>
      <p:sp>
        <p:nvSpPr>
          <p:cNvPr id="7" name="Text 5"/>
          <p:cNvSpPr/>
          <p:nvPr/>
        </p:nvSpPr>
        <p:spPr>
          <a:xfrm>
            <a:off x="1005840" y="1965960"/>
            <a:ext cx="4754880" cy="594360"/>
          </a:xfrm>
          <a:prstGeom prst="rect">
            <a:avLst/>
          </a:prstGeom>
          <a:noFill/>
          <a:ln/>
        </p:spPr>
        <p:txBody>
          <a:bodyPr wrap="square" rtlCol="0" anchor="ctr"/>
          <a:lstStyle/>
          <a:p>
            <a:pPr indent="0" marL="0">
              <a:lnSpc>
                <a:spcPct val="120000"/>
              </a:lnSpc>
              <a:buNone/>
            </a:pPr>
            <a:r>
              <a:rPr lang="en-US" sz="1200" dirty="0">
                <a:solidFill>
                  <a:srgbClr val="F0F4F5"/>
                </a:solidFill>
                <a:latin typeface="Calibri" pitchFamily="34" charset="0"/>
                <a:ea typeface="Calibri" pitchFamily="34" charset="-122"/>
                <a:cs typeface="Calibri" pitchFamily="34" charset="-120"/>
              </a:rPr>
              <a:t>Implement BERT/GPT-based embeddings for better semantic understanding of resume content and context-aware matching.</a:t>
            </a:r>
            <a:endParaRPr lang="en-US" sz="1200" dirty="0"/>
          </a:p>
        </p:txBody>
      </p:sp>
      <p:sp>
        <p:nvSpPr>
          <p:cNvPr id="8" name="Shape 6"/>
          <p:cNvSpPr/>
          <p:nvPr/>
        </p:nvSpPr>
        <p:spPr>
          <a:xfrm>
            <a:off x="6400800" y="1371600"/>
            <a:ext cx="5303520" cy="1280160"/>
          </a:xfrm>
          <a:prstGeom prst="rect">
            <a:avLst>
              <a:gd name="adj" fmla="val 8571"/>
            </a:avLst>
          </a:prstGeom>
          <a:solidFill>
            <a:srgbClr val="0E4D64"/>
          </a:solidFill>
          <a:ln/>
        </p:spPr>
      </p:sp>
      <p:sp>
        <p:nvSpPr>
          <p:cNvPr id="9" name="Text 7"/>
          <p:cNvSpPr/>
          <p:nvPr/>
        </p:nvSpPr>
        <p:spPr>
          <a:xfrm>
            <a:off x="6675120" y="1508760"/>
            <a:ext cx="457200" cy="45720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0" name="Text 8"/>
          <p:cNvSpPr/>
          <p:nvPr/>
        </p:nvSpPr>
        <p:spPr>
          <a:xfrm>
            <a:off x="7223760" y="1508760"/>
            <a:ext cx="4114800" cy="365760"/>
          </a:xfrm>
          <a:prstGeom prst="rect">
            <a:avLst/>
          </a:prstGeom>
          <a:noFill/>
          <a:ln/>
        </p:spPr>
        <p:txBody>
          <a:bodyPr wrap="square" rtlCol="0" anchor="ctr"/>
          <a:lstStyle/>
          <a:p>
            <a:pPr indent="0" marL="0">
              <a:buNone/>
            </a:pPr>
            <a:r>
              <a:rPr lang="en-US" sz="1600" b="1" dirty="0">
                <a:solidFill>
                  <a:srgbClr val="F4A825"/>
                </a:solidFill>
                <a:latin typeface="Georgia" pitchFamily="34" charset="0"/>
                <a:ea typeface="Georgia" pitchFamily="34" charset="-122"/>
                <a:cs typeface="Georgia" pitchFamily="34" charset="-120"/>
              </a:rPr>
              <a:t>Job-Resume Matching</a:t>
            </a:r>
            <a:endParaRPr lang="en-US" sz="1600" dirty="0"/>
          </a:p>
        </p:txBody>
      </p:sp>
      <p:sp>
        <p:nvSpPr>
          <p:cNvPr id="11" name="Text 9"/>
          <p:cNvSpPr/>
          <p:nvPr/>
        </p:nvSpPr>
        <p:spPr>
          <a:xfrm>
            <a:off x="6675120" y="1965960"/>
            <a:ext cx="4754880" cy="594360"/>
          </a:xfrm>
          <a:prstGeom prst="rect">
            <a:avLst/>
          </a:prstGeom>
          <a:noFill/>
          <a:ln/>
        </p:spPr>
        <p:txBody>
          <a:bodyPr wrap="square" rtlCol="0" anchor="ctr"/>
          <a:lstStyle/>
          <a:p>
            <a:pPr indent="0" marL="0">
              <a:lnSpc>
                <a:spcPct val="120000"/>
              </a:lnSpc>
              <a:buNone/>
            </a:pPr>
            <a:r>
              <a:rPr lang="en-US" sz="1200" dirty="0">
                <a:solidFill>
                  <a:srgbClr val="F0F4F5"/>
                </a:solidFill>
                <a:latin typeface="Calibri" pitchFamily="34" charset="0"/>
                <a:ea typeface="Calibri" pitchFamily="34" charset="-122"/>
                <a:cs typeface="Calibri" pitchFamily="34" charset="-120"/>
              </a:rPr>
              <a:t>Extend beyond classification to match resumes with specific job descriptions using similarity scoring and ranking algorithms.</a:t>
            </a:r>
            <a:endParaRPr lang="en-US" sz="1200" dirty="0"/>
          </a:p>
        </p:txBody>
      </p:sp>
      <p:sp>
        <p:nvSpPr>
          <p:cNvPr id="12" name="Shape 10"/>
          <p:cNvSpPr/>
          <p:nvPr/>
        </p:nvSpPr>
        <p:spPr>
          <a:xfrm>
            <a:off x="731520" y="2926080"/>
            <a:ext cx="5303520" cy="1280160"/>
          </a:xfrm>
          <a:prstGeom prst="rect">
            <a:avLst>
              <a:gd name="adj" fmla="val 8571"/>
            </a:avLst>
          </a:prstGeom>
          <a:solidFill>
            <a:srgbClr val="0E4D64"/>
          </a:solidFill>
          <a:ln/>
        </p:spPr>
      </p:sp>
      <p:sp>
        <p:nvSpPr>
          <p:cNvPr id="13" name="Text 11"/>
          <p:cNvSpPr/>
          <p:nvPr/>
        </p:nvSpPr>
        <p:spPr>
          <a:xfrm>
            <a:off x="1005840" y="3063240"/>
            <a:ext cx="457200" cy="45720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4" name="Text 12"/>
          <p:cNvSpPr/>
          <p:nvPr/>
        </p:nvSpPr>
        <p:spPr>
          <a:xfrm>
            <a:off x="1554480" y="3063240"/>
            <a:ext cx="4114800" cy="365760"/>
          </a:xfrm>
          <a:prstGeom prst="rect">
            <a:avLst/>
          </a:prstGeom>
          <a:noFill/>
          <a:ln/>
        </p:spPr>
        <p:txBody>
          <a:bodyPr wrap="square" rtlCol="0" anchor="ctr"/>
          <a:lstStyle/>
          <a:p>
            <a:pPr indent="0" marL="0">
              <a:buNone/>
            </a:pPr>
            <a:r>
              <a:rPr lang="en-US" sz="1600" b="1" dirty="0">
                <a:solidFill>
                  <a:srgbClr val="F4A825"/>
                </a:solidFill>
                <a:latin typeface="Georgia" pitchFamily="34" charset="0"/>
                <a:ea typeface="Georgia" pitchFamily="34" charset="-122"/>
                <a:cs typeface="Georgia" pitchFamily="34" charset="-120"/>
              </a:rPr>
              <a:t>Multi-Format Support</a:t>
            </a:r>
            <a:endParaRPr lang="en-US" sz="1600" dirty="0"/>
          </a:p>
        </p:txBody>
      </p:sp>
      <p:sp>
        <p:nvSpPr>
          <p:cNvPr id="15" name="Text 13"/>
          <p:cNvSpPr/>
          <p:nvPr/>
        </p:nvSpPr>
        <p:spPr>
          <a:xfrm>
            <a:off x="1005840" y="3520440"/>
            <a:ext cx="4754880" cy="594360"/>
          </a:xfrm>
          <a:prstGeom prst="rect">
            <a:avLst/>
          </a:prstGeom>
          <a:noFill/>
          <a:ln/>
        </p:spPr>
        <p:txBody>
          <a:bodyPr wrap="square" rtlCol="0" anchor="ctr"/>
          <a:lstStyle/>
          <a:p>
            <a:pPr indent="0" marL="0">
              <a:lnSpc>
                <a:spcPct val="120000"/>
              </a:lnSpc>
              <a:buNone/>
            </a:pPr>
            <a:r>
              <a:rPr lang="en-US" sz="1200" dirty="0">
                <a:solidFill>
                  <a:srgbClr val="F0F4F5"/>
                </a:solidFill>
                <a:latin typeface="Calibri" pitchFamily="34" charset="0"/>
                <a:ea typeface="Calibri" pitchFamily="34" charset="-122"/>
                <a:cs typeface="Calibri" pitchFamily="34" charset="-120"/>
              </a:rPr>
              <a:t>Add support for PDF, DOCX, and LinkedIn profile parsing with OCR capabilities for scanned documents.</a:t>
            </a:r>
            <a:endParaRPr lang="en-US" sz="1200" dirty="0"/>
          </a:p>
        </p:txBody>
      </p:sp>
      <p:sp>
        <p:nvSpPr>
          <p:cNvPr id="16" name="Shape 14"/>
          <p:cNvSpPr/>
          <p:nvPr/>
        </p:nvSpPr>
        <p:spPr>
          <a:xfrm>
            <a:off x="6400800" y="2926080"/>
            <a:ext cx="5303520" cy="1280160"/>
          </a:xfrm>
          <a:prstGeom prst="rect">
            <a:avLst>
              <a:gd name="adj" fmla="val 8571"/>
            </a:avLst>
          </a:prstGeom>
          <a:solidFill>
            <a:srgbClr val="0E4D64"/>
          </a:solidFill>
          <a:ln/>
        </p:spPr>
      </p:sp>
      <p:sp>
        <p:nvSpPr>
          <p:cNvPr id="17" name="Text 15"/>
          <p:cNvSpPr/>
          <p:nvPr/>
        </p:nvSpPr>
        <p:spPr>
          <a:xfrm>
            <a:off x="6675120" y="3063240"/>
            <a:ext cx="457200" cy="45720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8" name="Text 16"/>
          <p:cNvSpPr/>
          <p:nvPr/>
        </p:nvSpPr>
        <p:spPr>
          <a:xfrm>
            <a:off x="7223760" y="3063240"/>
            <a:ext cx="4114800" cy="365760"/>
          </a:xfrm>
          <a:prstGeom prst="rect">
            <a:avLst/>
          </a:prstGeom>
          <a:noFill/>
          <a:ln/>
        </p:spPr>
        <p:txBody>
          <a:bodyPr wrap="square" rtlCol="0" anchor="ctr"/>
          <a:lstStyle/>
          <a:p>
            <a:pPr indent="0" marL="0">
              <a:buNone/>
            </a:pPr>
            <a:r>
              <a:rPr lang="en-US" sz="1600" b="1" dirty="0">
                <a:solidFill>
                  <a:srgbClr val="F4A825"/>
                </a:solidFill>
                <a:latin typeface="Georgia" pitchFamily="34" charset="0"/>
                <a:ea typeface="Georgia" pitchFamily="34" charset="-122"/>
                <a:cs typeface="Georgia" pitchFamily="34" charset="-120"/>
              </a:rPr>
              <a:t>Skill Gap Analysis</a:t>
            </a:r>
            <a:endParaRPr lang="en-US" sz="1600" dirty="0"/>
          </a:p>
        </p:txBody>
      </p:sp>
      <p:sp>
        <p:nvSpPr>
          <p:cNvPr id="19" name="Text 17"/>
          <p:cNvSpPr/>
          <p:nvPr/>
        </p:nvSpPr>
        <p:spPr>
          <a:xfrm>
            <a:off x="6675120" y="3520440"/>
            <a:ext cx="4754880" cy="594360"/>
          </a:xfrm>
          <a:prstGeom prst="rect">
            <a:avLst/>
          </a:prstGeom>
          <a:noFill/>
          <a:ln/>
        </p:spPr>
        <p:txBody>
          <a:bodyPr wrap="square" rtlCol="0" anchor="ctr"/>
          <a:lstStyle/>
          <a:p>
            <a:pPr indent="0" marL="0">
              <a:lnSpc>
                <a:spcPct val="120000"/>
              </a:lnSpc>
              <a:buNone/>
            </a:pPr>
            <a:r>
              <a:rPr lang="en-US" sz="1200" dirty="0">
                <a:solidFill>
                  <a:srgbClr val="F0F4F5"/>
                </a:solidFill>
                <a:latin typeface="Calibri" pitchFamily="34" charset="0"/>
                <a:ea typeface="Calibri" pitchFamily="34" charset="-122"/>
                <a:cs typeface="Calibri" pitchFamily="34" charset="-120"/>
              </a:rPr>
              <a:t>Identify missing skills and provide recommendations for candidates to improve their profiles for target roles.</a:t>
            </a:r>
            <a:endParaRPr lang="en-US" sz="1200" dirty="0"/>
          </a:p>
        </p:txBody>
      </p:sp>
      <p:sp>
        <p:nvSpPr>
          <p:cNvPr id="20" name="Shape 18"/>
          <p:cNvSpPr/>
          <p:nvPr/>
        </p:nvSpPr>
        <p:spPr>
          <a:xfrm>
            <a:off x="731520" y="4480560"/>
            <a:ext cx="5303520" cy="1280160"/>
          </a:xfrm>
          <a:prstGeom prst="rect">
            <a:avLst>
              <a:gd name="adj" fmla="val 8571"/>
            </a:avLst>
          </a:prstGeom>
          <a:solidFill>
            <a:srgbClr val="0E4D64"/>
          </a:solidFill>
          <a:ln/>
        </p:spPr>
      </p:sp>
      <p:sp>
        <p:nvSpPr>
          <p:cNvPr id="21" name="Text 19"/>
          <p:cNvSpPr/>
          <p:nvPr/>
        </p:nvSpPr>
        <p:spPr>
          <a:xfrm>
            <a:off x="1005840" y="4617720"/>
            <a:ext cx="457200" cy="45720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22" name="Text 20"/>
          <p:cNvSpPr/>
          <p:nvPr/>
        </p:nvSpPr>
        <p:spPr>
          <a:xfrm>
            <a:off x="1554480" y="4617720"/>
            <a:ext cx="4114800" cy="365760"/>
          </a:xfrm>
          <a:prstGeom prst="rect">
            <a:avLst/>
          </a:prstGeom>
          <a:noFill/>
          <a:ln/>
        </p:spPr>
        <p:txBody>
          <a:bodyPr wrap="square" rtlCol="0" anchor="ctr"/>
          <a:lstStyle/>
          <a:p>
            <a:pPr indent="0" marL="0">
              <a:buNone/>
            </a:pPr>
            <a:r>
              <a:rPr lang="en-US" sz="1600" b="1" dirty="0">
                <a:solidFill>
                  <a:srgbClr val="F4A825"/>
                </a:solidFill>
                <a:latin typeface="Georgia" pitchFamily="34" charset="0"/>
                <a:ea typeface="Georgia" pitchFamily="34" charset="-122"/>
                <a:cs typeface="Georgia" pitchFamily="34" charset="-120"/>
              </a:rPr>
              <a:t>Multilingual Support</a:t>
            </a:r>
            <a:endParaRPr lang="en-US" sz="1600" dirty="0"/>
          </a:p>
        </p:txBody>
      </p:sp>
      <p:sp>
        <p:nvSpPr>
          <p:cNvPr id="23" name="Text 21"/>
          <p:cNvSpPr/>
          <p:nvPr/>
        </p:nvSpPr>
        <p:spPr>
          <a:xfrm>
            <a:off x="1005840" y="5074920"/>
            <a:ext cx="4754880" cy="594360"/>
          </a:xfrm>
          <a:prstGeom prst="rect">
            <a:avLst/>
          </a:prstGeom>
          <a:noFill/>
          <a:ln/>
        </p:spPr>
        <p:txBody>
          <a:bodyPr wrap="square" rtlCol="0" anchor="ctr"/>
          <a:lstStyle/>
          <a:p>
            <a:pPr indent="0" marL="0">
              <a:lnSpc>
                <a:spcPct val="120000"/>
              </a:lnSpc>
              <a:buNone/>
            </a:pPr>
            <a:r>
              <a:rPr lang="en-US" sz="1200" dirty="0">
                <a:solidFill>
                  <a:srgbClr val="F0F4F5"/>
                </a:solidFill>
                <a:latin typeface="Calibri" pitchFamily="34" charset="0"/>
                <a:ea typeface="Calibri" pitchFamily="34" charset="-122"/>
                <a:cs typeface="Calibri" pitchFamily="34" charset="-120"/>
              </a:rPr>
              <a:t>Extend NLP pipeline to support resumes in multiple languages using multilingual transformer models.</a:t>
            </a:r>
            <a:endParaRPr lang="en-US" sz="1200" dirty="0"/>
          </a:p>
        </p:txBody>
      </p:sp>
      <p:sp>
        <p:nvSpPr>
          <p:cNvPr id="24" name="Shape 22"/>
          <p:cNvSpPr/>
          <p:nvPr/>
        </p:nvSpPr>
        <p:spPr>
          <a:xfrm>
            <a:off x="6400800" y="4480560"/>
            <a:ext cx="5303520" cy="1280160"/>
          </a:xfrm>
          <a:prstGeom prst="rect">
            <a:avLst>
              <a:gd name="adj" fmla="val 8571"/>
            </a:avLst>
          </a:prstGeom>
          <a:solidFill>
            <a:srgbClr val="0E4D64"/>
          </a:solidFill>
          <a:ln/>
        </p:spPr>
      </p:sp>
      <p:sp>
        <p:nvSpPr>
          <p:cNvPr id="25" name="Text 23"/>
          <p:cNvSpPr/>
          <p:nvPr/>
        </p:nvSpPr>
        <p:spPr>
          <a:xfrm>
            <a:off x="6675120" y="4617720"/>
            <a:ext cx="457200" cy="45720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26" name="Text 24"/>
          <p:cNvSpPr/>
          <p:nvPr/>
        </p:nvSpPr>
        <p:spPr>
          <a:xfrm>
            <a:off x="7223760" y="4617720"/>
            <a:ext cx="4114800" cy="365760"/>
          </a:xfrm>
          <a:prstGeom prst="rect">
            <a:avLst/>
          </a:prstGeom>
          <a:noFill/>
          <a:ln/>
        </p:spPr>
        <p:txBody>
          <a:bodyPr wrap="square" rtlCol="0" anchor="ctr"/>
          <a:lstStyle/>
          <a:p>
            <a:pPr indent="0" marL="0">
              <a:buNone/>
            </a:pPr>
            <a:r>
              <a:rPr lang="en-US" sz="1600" b="1" dirty="0">
                <a:solidFill>
                  <a:srgbClr val="F4A825"/>
                </a:solidFill>
                <a:latin typeface="Georgia" pitchFamily="34" charset="0"/>
                <a:ea typeface="Georgia" pitchFamily="34" charset="-122"/>
                <a:cs typeface="Georgia" pitchFamily="34" charset="-120"/>
              </a:rPr>
              <a:t>Bias Detection &amp; Fairness</a:t>
            </a:r>
            <a:endParaRPr lang="en-US" sz="1600" dirty="0"/>
          </a:p>
        </p:txBody>
      </p:sp>
      <p:sp>
        <p:nvSpPr>
          <p:cNvPr id="27" name="Text 25"/>
          <p:cNvSpPr/>
          <p:nvPr/>
        </p:nvSpPr>
        <p:spPr>
          <a:xfrm>
            <a:off x="6675120" y="5074920"/>
            <a:ext cx="4754880" cy="594360"/>
          </a:xfrm>
          <a:prstGeom prst="rect">
            <a:avLst/>
          </a:prstGeom>
          <a:noFill/>
          <a:ln/>
        </p:spPr>
        <p:txBody>
          <a:bodyPr wrap="square" rtlCol="0" anchor="ctr"/>
          <a:lstStyle/>
          <a:p>
            <a:pPr indent="0" marL="0">
              <a:lnSpc>
                <a:spcPct val="120000"/>
              </a:lnSpc>
              <a:buNone/>
            </a:pPr>
            <a:r>
              <a:rPr lang="en-US" sz="1200" dirty="0">
                <a:solidFill>
                  <a:srgbClr val="F0F4F5"/>
                </a:solidFill>
                <a:latin typeface="Calibri" pitchFamily="34" charset="0"/>
                <a:ea typeface="Calibri" pitchFamily="34" charset="-122"/>
                <a:cs typeface="Calibri" pitchFamily="34" charset="-120"/>
              </a:rPr>
              <a:t>Implement fairness metrics and bias detection to ensure equitable screening across demographics.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B3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F4A825"/>
          </a:solidFill>
          <a:ln/>
        </p:spPr>
      </p:sp>
      <p:sp>
        <p:nvSpPr>
          <p:cNvPr id="3" name="Text 1"/>
          <p:cNvSpPr/>
          <p:nvPr/>
        </p:nvSpPr>
        <p:spPr>
          <a:xfrm>
            <a:off x="1828800" y="2011680"/>
            <a:ext cx="8229600" cy="1097280"/>
          </a:xfrm>
          <a:prstGeom prst="rect">
            <a:avLst/>
          </a:prstGeom>
          <a:noFill/>
          <a:ln/>
        </p:spPr>
        <p:txBody>
          <a:bodyPr wrap="square" rtlCol="0" anchor="ctr"/>
          <a:lstStyle/>
          <a:p>
            <a:pPr algn="ctr" indent="0" marL="0">
              <a:buNone/>
            </a:pPr>
            <a:r>
              <a:rPr lang="en-US" sz="5200" b="1" dirty="0">
                <a:solidFill>
                  <a:srgbClr val="F4A825"/>
                </a:solidFill>
                <a:latin typeface="Georgia" pitchFamily="34" charset="0"/>
                <a:ea typeface="Georgia" pitchFamily="34" charset="-122"/>
                <a:cs typeface="Georgia" pitchFamily="34" charset="-120"/>
              </a:rPr>
              <a:t>Thank You!</a:t>
            </a:r>
            <a:endParaRPr lang="en-US" sz="5200" dirty="0"/>
          </a:p>
        </p:txBody>
      </p:sp>
      <p:sp>
        <p:nvSpPr>
          <p:cNvPr id="4" name="Text 2"/>
          <p:cNvSpPr/>
          <p:nvPr/>
        </p:nvSpPr>
        <p:spPr>
          <a:xfrm>
            <a:off x="1828800" y="3200400"/>
            <a:ext cx="8229600" cy="54864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Questions &amp; Discussion</a:t>
            </a:r>
            <a:endParaRPr lang="en-US" sz="2200" dirty="0"/>
          </a:p>
        </p:txBody>
      </p:sp>
      <p:sp>
        <p:nvSpPr>
          <p:cNvPr id="5" name="Shape 3"/>
          <p:cNvSpPr/>
          <p:nvPr/>
        </p:nvSpPr>
        <p:spPr>
          <a:xfrm>
            <a:off x="5029200" y="3931920"/>
            <a:ext cx="2286000" cy="36576"/>
          </a:xfrm>
          <a:prstGeom prst="rect">
            <a:avLst/>
          </a:prstGeom>
          <a:solidFill>
            <a:srgbClr val="F4A825"/>
          </a:solidFill>
          <a:ln/>
        </p:spPr>
      </p:sp>
      <p:sp>
        <p:nvSpPr>
          <p:cNvPr id="6" name="Text 4"/>
          <p:cNvSpPr/>
          <p:nvPr/>
        </p:nvSpPr>
        <p:spPr>
          <a:xfrm>
            <a:off x="1828800" y="4297680"/>
            <a:ext cx="8229600" cy="457200"/>
          </a:xfrm>
          <a:prstGeom prst="rect">
            <a:avLst/>
          </a:prstGeom>
          <a:noFill/>
          <a:ln/>
        </p:spPr>
        <p:txBody>
          <a:bodyPr wrap="square" rtlCol="0" anchor="ctr"/>
          <a:lstStyle/>
          <a:p>
            <a:pPr algn="ctr" indent="0" marL="0">
              <a:buNone/>
            </a:pPr>
            <a:r>
              <a:rPr lang="en-US" sz="1400" dirty="0">
                <a:solidFill>
                  <a:srgbClr val="7A8B8F"/>
                </a:solidFill>
                <a:latin typeface="Calibri" pitchFamily="34" charset="0"/>
                <a:ea typeface="Calibri" pitchFamily="34" charset="-122"/>
                <a:cs typeface="Calibri" pitchFamily="34" charset="-120"/>
              </a:rPr>
              <a:t>Resume Screening System — ML Project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Resume Screening System - ML Project</dc:title>
  <dc:subject>PptxGenJS Presentation</dc:subject>
  <dc:creator>Resume Screening System</dc:creator>
  <cp:lastModifiedBy>Resume Screening System</cp:lastModifiedBy>
  <cp:revision>1</cp:revision>
  <dcterms:created xsi:type="dcterms:W3CDTF">2026-04-07T07:54:41Z</dcterms:created>
  <dcterms:modified xsi:type="dcterms:W3CDTF">2026-04-07T07:54:41Z</dcterms:modified>
</cp:coreProperties>
</file>